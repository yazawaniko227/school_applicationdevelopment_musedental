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8"/>
  </p:notesMasterIdLst>
  <p:sldIdLst>
    <p:sldId id="256" r:id="rId2"/>
    <p:sldId id="257" r:id="rId3"/>
    <p:sldId id="260" r:id="rId4"/>
    <p:sldId id="262" r:id="rId5"/>
    <p:sldId id="265" r:id="rId6"/>
    <p:sldId id="266" r:id="rId7"/>
    <p:sldId id="267" r:id="rId8"/>
    <p:sldId id="271" r:id="rId9"/>
    <p:sldId id="264" r:id="rId10"/>
    <p:sldId id="273" r:id="rId11"/>
    <p:sldId id="268" r:id="rId12"/>
    <p:sldId id="270" r:id="rId13"/>
    <p:sldId id="269" r:id="rId14"/>
    <p:sldId id="274" r:id="rId15"/>
    <p:sldId id="275" r:id="rId16"/>
    <p:sldId id="276" r:id="rId17"/>
    <p:sldId id="280" r:id="rId18"/>
    <p:sldId id="281" r:id="rId19"/>
    <p:sldId id="282" r:id="rId20"/>
    <p:sldId id="283" r:id="rId21"/>
    <p:sldId id="284" r:id="rId22"/>
    <p:sldId id="286" r:id="rId23"/>
    <p:sldId id="287" r:id="rId24"/>
    <p:sldId id="278" r:id="rId25"/>
    <p:sldId id="279" r:id="rId26"/>
    <p:sldId id="259" r:id="rId27"/>
  </p:sldIdLst>
  <p:sldSz cx="9144000" cy="5943600"/>
  <p:notesSz cx="6858000" cy="9144000"/>
  <p:defaultTextStyle>
    <a:defPPr>
      <a:defRPr lang="en-US"/>
    </a:defPPr>
    <a:lvl1pPr marL="0" algn="l" defTabSz="746116" rtl="0" eaLnBrk="1" latinLnBrk="0" hangingPunct="1">
      <a:defRPr sz="1469" kern="1200">
        <a:solidFill>
          <a:schemeClr val="tx1"/>
        </a:solidFill>
        <a:latin typeface="+mn-lt"/>
        <a:ea typeface="+mn-ea"/>
        <a:cs typeface="+mn-cs"/>
      </a:defRPr>
    </a:lvl1pPr>
    <a:lvl2pPr marL="373058" algn="l" defTabSz="746116" rtl="0" eaLnBrk="1" latinLnBrk="0" hangingPunct="1">
      <a:defRPr sz="1469" kern="1200">
        <a:solidFill>
          <a:schemeClr val="tx1"/>
        </a:solidFill>
        <a:latin typeface="+mn-lt"/>
        <a:ea typeface="+mn-ea"/>
        <a:cs typeface="+mn-cs"/>
      </a:defRPr>
    </a:lvl2pPr>
    <a:lvl3pPr marL="746116" algn="l" defTabSz="746116" rtl="0" eaLnBrk="1" latinLnBrk="0" hangingPunct="1">
      <a:defRPr sz="1469" kern="1200">
        <a:solidFill>
          <a:schemeClr val="tx1"/>
        </a:solidFill>
        <a:latin typeface="+mn-lt"/>
        <a:ea typeface="+mn-ea"/>
        <a:cs typeface="+mn-cs"/>
      </a:defRPr>
    </a:lvl3pPr>
    <a:lvl4pPr marL="1119173" algn="l" defTabSz="746116" rtl="0" eaLnBrk="1" latinLnBrk="0" hangingPunct="1">
      <a:defRPr sz="1469" kern="1200">
        <a:solidFill>
          <a:schemeClr val="tx1"/>
        </a:solidFill>
        <a:latin typeface="+mn-lt"/>
        <a:ea typeface="+mn-ea"/>
        <a:cs typeface="+mn-cs"/>
      </a:defRPr>
    </a:lvl4pPr>
    <a:lvl5pPr marL="1492230" algn="l" defTabSz="746116" rtl="0" eaLnBrk="1" latinLnBrk="0" hangingPunct="1">
      <a:defRPr sz="1469" kern="1200">
        <a:solidFill>
          <a:schemeClr val="tx1"/>
        </a:solidFill>
        <a:latin typeface="+mn-lt"/>
        <a:ea typeface="+mn-ea"/>
        <a:cs typeface="+mn-cs"/>
      </a:defRPr>
    </a:lvl5pPr>
    <a:lvl6pPr marL="1865288" algn="l" defTabSz="746116" rtl="0" eaLnBrk="1" latinLnBrk="0" hangingPunct="1">
      <a:defRPr sz="1469" kern="1200">
        <a:solidFill>
          <a:schemeClr val="tx1"/>
        </a:solidFill>
        <a:latin typeface="+mn-lt"/>
        <a:ea typeface="+mn-ea"/>
        <a:cs typeface="+mn-cs"/>
      </a:defRPr>
    </a:lvl6pPr>
    <a:lvl7pPr marL="2238346" algn="l" defTabSz="746116" rtl="0" eaLnBrk="1" latinLnBrk="0" hangingPunct="1">
      <a:defRPr sz="1469" kern="1200">
        <a:solidFill>
          <a:schemeClr val="tx1"/>
        </a:solidFill>
        <a:latin typeface="+mn-lt"/>
        <a:ea typeface="+mn-ea"/>
        <a:cs typeface="+mn-cs"/>
      </a:defRPr>
    </a:lvl7pPr>
    <a:lvl8pPr marL="2611404" algn="l" defTabSz="746116" rtl="0" eaLnBrk="1" latinLnBrk="0" hangingPunct="1">
      <a:defRPr sz="1469" kern="1200">
        <a:solidFill>
          <a:schemeClr val="tx1"/>
        </a:solidFill>
        <a:latin typeface="+mn-lt"/>
        <a:ea typeface="+mn-ea"/>
        <a:cs typeface="+mn-cs"/>
      </a:defRPr>
    </a:lvl8pPr>
    <a:lvl9pPr marL="2984461" algn="l" defTabSz="746116" rtl="0" eaLnBrk="1" latinLnBrk="0" hangingPunct="1">
      <a:defRPr sz="1469"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2" d="100"/>
          <a:sy n="62" d="100"/>
        </p:scale>
        <p:origin x="-950" y="-82"/>
      </p:cViewPr>
      <p:guideLst>
        <p:guide orient="horz" pos="1872"/>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EDCD23-2DD8-4180-A9CC-4E448040504D}" type="datetimeFigureOut">
              <a:rPr lang="en-US" smtClean="0"/>
              <a:t>10/2/2023</a:t>
            </a:fld>
            <a:endParaRPr lang="en-US"/>
          </a:p>
        </p:txBody>
      </p:sp>
      <p:sp>
        <p:nvSpPr>
          <p:cNvPr id="4" name="Slide Image Placeholder 3"/>
          <p:cNvSpPr>
            <a:spLocks noGrp="1" noRot="1" noChangeAspect="1"/>
          </p:cNvSpPr>
          <p:nvPr>
            <p:ph type="sldImg" idx="2"/>
          </p:nvPr>
        </p:nvSpPr>
        <p:spPr>
          <a:xfrm>
            <a:off x="1055688" y="1143000"/>
            <a:ext cx="47466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27FC92-C9B9-4473-8F41-FA2B9FACBBEE}" type="slidenum">
              <a:rPr lang="en-US" smtClean="0"/>
              <a:t>‹#›</a:t>
            </a:fld>
            <a:endParaRPr lang="en-US"/>
          </a:p>
        </p:txBody>
      </p:sp>
    </p:spTree>
    <p:extLst>
      <p:ext uri="{BB962C8B-B14F-4D97-AF65-F5344CB8AC3E}">
        <p14:creationId xmlns:p14="http://schemas.microsoft.com/office/powerpoint/2010/main" val="435837928"/>
      </p:ext>
    </p:extLst>
  </p:cSld>
  <p:clrMap bg1="lt1" tx1="dk1" bg2="lt2" tx2="dk2" accent1="accent1" accent2="accent2" accent3="accent3" accent4="accent4" accent5="accent5" accent6="accent6" hlink="hlink" folHlink="folHlink"/>
  <p:notesStyle>
    <a:lvl1pPr marL="0" algn="l" defTabSz="746116" rtl="0" eaLnBrk="1" latinLnBrk="0" hangingPunct="1">
      <a:defRPr sz="979" kern="1200">
        <a:solidFill>
          <a:schemeClr val="tx1"/>
        </a:solidFill>
        <a:latin typeface="+mn-lt"/>
        <a:ea typeface="+mn-ea"/>
        <a:cs typeface="+mn-cs"/>
      </a:defRPr>
    </a:lvl1pPr>
    <a:lvl2pPr marL="373058" algn="l" defTabSz="746116" rtl="0" eaLnBrk="1" latinLnBrk="0" hangingPunct="1">
      <a:defRPr sz="979" kern="1200">
        <a:solidFill>
          <a:schemeClr val="tx1"/>
        </a:solidFill>
        <a:latin typeface="+mn-lt"/>
        <a:ea typeface="+mn-ea"/>
        <a:cs typeface="+mn-cs"/>
      </a:defRPr>
    </a:lvl2pPr>
    <a:lvl3pPr marL="746116" algn="l" defTabSz="746116" rtl="0" eaLnBrk="1" latinLnBrk="0" hangingPunct="1">
      <a:defRPr sz="979" kern="1200">
        <a:solidFill>
          <a:schemeClr val="tx1"/>
        </a:solidFill>
        <a:latin typeface="+mn-lt"/>
        <a:ea typeface="+mn-ea"/>
        <a:cs typeface="+mn-cs"/>
      </a:defRPr>
    </a:lvl3pPr>
    <a:lvl4pPr marL="1119173" algn="l" defTabSz="746116" rtl="0" eaLnBrk="1" latinLnBrk="0" hangingPunct="1">
      <a:defRPr sz="979" kern="1200">
        <a:solidFill>
          <a:schemeClr val="tx1"/>
        </a:solidFill>
        <a:latin typeface="+mn-lt"/>
        <a:ea typeface="+mn-ea"/>
        <a:cs typeface="+mn-cs"/>
      </a:defRPr>
    </a:lvl4pPr>
    <a:lvl5pPr marL="1492230" algn="l" defTabSz="746116" rtl="0" eaLnBrk="1" latinLnBrk="0" hangingPunct="1">
      <a:defRPr sz="979" kern="1200">
        <a:solidFill>
          <a:schemeClr val="tx1"/>
        </a:solidFill>
        <a:latin typeface="+mn-lt"/>
        <a:ea typeface="+mn-ea"/>
        <a:cs typeface="+mn-cs"/>
      </a:defRPr>
    </a:lvl5pPr>
    <a:lvl6pPr marL="1865288" algn="l" defTabSz="746116" rtl="0" eaLnBrk="1" latinLnBrk="0" hangingPunct="1">
      <a:defRPr sz="979" kern="1200">
        <a:solidFill>
          <a:schemeClr val="tx1"/>
        </a:solidFill>
        <a:latin typeface="+mn-lt"/>
        <a:ea typeface="+mn-ea"/>
        <a:cs typeface="+mn-cs"/>
      </a:defRPr>
    </a:lvl6pPr>
    <a:lvl7pPr marL="2238346" algn="l" defTabSz="746116" rtl="0" eaLnBrk="1" latinLnBrk="0" hangingPunct="1">
      <a:defRPr sz="979" kern="1200">
        <a:solidFill>
          <a:schemeClr val="tx1"/>
        </a:solidFill>
        <a:latin typeface="+mn-lt"/>
        <a:ea typeface="+mn-ea"/>
        <a:cs typeface="+mn-cs"/>
      </a:defRPr>
    </a:lvl7pPr>
    <a:lvl8pPr marL="2611404" algn="l" defTabSz="746116" rtl="0" eaLnBrk="1" latinLnBrk="0" hangingPunct="1">
      <a:defRPr sz="979" kern="1200">
        <a:solidFill>
          <a:schemeClr val="tx1"/>
        </a:solidFill>
        <a:latin typeface="+mn-lt"/>
        <a:ea typeface="+mn-ea"/>
        <a:cs typeface="+mn-cs"/>
      </a:defRPr>
    </a:lvl8pPr>
    <a:lvl9pPr marL="2984461" algn="l" defTabSz="746116" rtl="0" eaLnBrk="1" latinLnBrk="0" hangingPunct="1">
      <a:defRPr sz="97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327FC92-C9B9-4473-8F41-FA2B9FACBBEE}" type="slidenum">
              <a:rPr lang="en-US" smtClean="0"/>
              <a:t>1</a:t>
            </a:fld>
            <a:endParaRPr lang="en-US"/>
          </a:p>
        </p:txBody>
      </p:sp>
    </p:spTree>
    <p:extLst>
      <p:ext uri="{BB962C8B-B14F-4D97-AF65-F5344CB8AC3E}">
        <p14:creationId xmlns:p14="http://schemas.microsoft.com/office/powerpoint/2010/main" val="11150175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5688" y="1143000"/>
            <a:ext cx="4746625"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327FC92-C9B9-4473-8F41-FA2B9FACBBEE}" type="slidenum">
              <a:rPr lang="en-US" smtClean="0"/>
              <a:t>2</a:t>
            </a:fld>
            <a:endParaRPr lang="en-US"/>
          </a:p>
        </p:txBody>
      </p:sp>
    </p:spTree>
    <p:extLst>
      <p:ext uri="{BB962C8B-B14F-4D97-AF65-F5344CB8AC3E}">
        <p14:creationId xmlns:p14="http://schemas.microsoft.com/office/powerpoint/2010/main" val="14230738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AutoShape 7"/>
          <p:cNvSpPr>
            <a:spLocks noChangeArrowheads="1"/>
          </p:cNvSpPr>
          <p:nvPr/>
        </p:nvSpPr>
        <p:spPr bwMode="auto">
          <a:xfrm>
            <a:off x="533400" y="2113282"/>
            <a:ext cx="8229600" cy="94933"/>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US" sz="2448"/>
          </a:p>
        </p:txBody>
      </p:sp>
      <p:sp>
        <p:nvSpPr>
          <p:cNvPr id="5122" name="Rectangle 2"/>
          <p:cNvSpPr>
            <a:spLocks noGrp="1" noChangeArrowheads="1"/>
          </p:cNvSpPr>
          <p:nvPr>
            <p:ph type="ctrTitle"/>
          </p:nvPr>
        </p:nvSpPr>
        <p:spPr>
          <a:xfrm>
            <a:off x="0" y="858520"/>
            <a:ext cx="9144000" cy="1188720"/>
          </a:xfrm>
        </p:spPr>
        <p:txBody>
          <a:bodyPr/>
          <a:lstStyle>
            <a:lvl1pPr algn="ctr">
              <a:defRPr sz="6527"/>
            </a:lvl1pPr>
          </a:lstStyle>
          <a:p>
            <a:pPr lvl="0"/>
            <a:r>
              <a:rPr lang="en-US" noProof="0" smtClean="0"/>
              <a:t>Click to edit Master title style</a:t>
            </a:r>
            <a:endParaRPr lang="en-US" noProof="0" dirty="0" smtClean="0"/>
          </a:p>
        </p:txBody>
      </p:sp>
      <p:sp>
        <p:nvSpPr>
          <p:cNvPr id="5123" name="Rectangle 3"/>
          <p:cNvSpPr>
            <a:spLocks noGrp="1" noChangeArrowheads="1"/>
          </p:cNvSpPr>
          <p:nvPr>
            <p:ph type="subTitle" idx="1"/>
          </p:nvPr>
        </p:nvSpPr>
        <p:spPr>
          <a:xfrm>
            <a:off x="228600" y="2377440"/>
            <a:ext cx="8763000" cy="1386840"/>
          </a:xfrm>
        </p:spPr>
        <p:txBody>
          <a:bodyPr/>
          <a:lstStyle>
            <a:lvl1pPr marL="0" indent="0" algn="ctr">
              <a:buFont typeface="Wingdings" panose="05000000000000000000" pitchFamily="2" charset="2"/>
              <a:buNone/>
              <a:defRPr sz="4895" b="0" i="1"/>
            </a:lvl1pPr>
          </a:lstStyle>
          <a:p>
            <a:pPr lvl="0"/>
            <a:r>
              <a:rPr lang="en-US" noProof="0" smtClean="0"/>
              <a:t>Click to edit Master subtitle style</a:t>
            </a:r>
            <a:endParaRPr lang="en-US" noProof="0" dirty="0" smtClean="0"/>
          </a:p>
        </p:txBody>
      </p:sp>
      <p:sp>
        <p:nvSpPr>
          <p:cNvPr id="5" name="Date Placeholder 4"/>
          <p:cNvSpPr>
            <a:spLocks noGrp="1" noChangeArrowheads="1"/>
          </p:cNvSpPr>
          <p:nvPr>
            <p:ph type="dt" sz="half" idx="10"/>
          </p:nvPr>
        </p:nvSpPr>
        <p:spPr bwMode="auto">
          <a:xfrm>
            <a:off x="685800" y="5415280"/>
            <a:ext cx="1905000" cy="39624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sz="1633"/>
            </a:lvl1pPr>
          </a:lstStyle>
          <a:p>
            <a:endParaRPr lang="en-US"/>
          </a:p>
        </p:txBody>
      </p:sp>
      <p:sp>
        <p:nvSpPr>
          <p:cNvPr id="6" name="Rectangle 5"/>
          <p:cNvSpPr>
            <a:spLocks noGrp="1" noChangeArrowheads="1"/>
          </p:cNvSpPr>
          <p:nvPr>
            <p:ph type="ftr" sz="quarter" idx="11"/>
          </p:nvPr>
        </p:nvSpPr>
        <p:spPr>
          <a:xfrm>
            <a:off x="3124200" y="5415280"/>
            <a:ext cx="2895600" cy="396240"/>
          </a:xfrm>
        </p:spPr>
        <p:txBody>
          <a:bodyPr/>
          <a:lstStyle>
            <a:lvl1pPr algn="ctr">
              <a:defRPr sz="1633" i="0">
                <a:latin typeface="Verdana" panose="020B0604030504040204" pitchFamily="34" charset="0"/>
              </a:defRPr>
            </a:lvl1pPr>
          </a:lstStyle>
          <a:p>
            <a:r>
              <a:rPr lang="vi-VN" smtClean="0"/>
              <a:t>Phần: Mô hình lớp UML và Mô hình quan hệ (review)</a:t>
            </a:r>
            <a:endParaRPr lang="en-US"/>
          </a:p>
        </p:txBody>
      </p:sp>
      <p:sp>
        <p:nvSpPr>
          <p:cNvPr id="7" name="Rectangle 6"/>
          <p:cNvSpPr>
            <a:spLocks noGrp="1" noChangeArrowheads="1"/>
          </p:cNvSpPr>
          <p:nvPr>
            <p:ph type="sldNum" sz="quarter" idx="12"/>
          </p:nvPr>
        </p:nvSpPr>
        <p:spPr>
          <a:xfrm>
            <a:off x="6553200" y="5415280"/>
            <a:ext cx="1905000" cy="396240"/>
          </a:xfrm>
        </p:spPr>
        <p:txBody>
          <a:bodyPr/>
          <a:lstStyle>
            <a:lvl1pPr>
              <a:defRPr sz="1633">
                <a:latin typeface="Verdana" panose="020B0604030504040204" pitchFamily="34" charset="0"/>
              </a:defRPr>
            </a:lvl1pPr>
          </a:lstStyle>
          <a:p>
            <a:fld id="{099B615F-C769-49CC-AD0C-AE566D56EEA8}" type="slidenum">
              <a:rPr lang="en-US" smtClean="0"/>
              <a:t>‹#›</a:t>
            </a:fld>
            <a:endParaRPr lang="en-US"/>
          </a:p>
        </p:txBody>
      </p:sp>
    </p:spTree>
    <p:extLst>
      <p:ext uri="{BB962C8B-B14F-4D97-AF65-F5344CB8AC3E}">
        <p14:creationId xmlns:p14="http://schemas.microsoft.com/office/powerpoint/2010/main" val="775432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b="0"/>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spcBef>
                <a:spcPts val="0"/>
              </a:spcBef>
              <a:defRPr sz="2400"/>
            </a:lvl1pPr>
            <a:lvl2pPr>
              <a:spcBef>
                <a:spcPts val="0"/>
              </a:spcBef>
              <a:defRPr sz="2400"/>
            </a:lvl2pPr>
            <a:lvl3pPr>
              <a:spcBef>
                <a:spcPts val="0"/>
              </a:spcBef>
              <a:defRPr sz="2400"/>
            </a:lvl3pPr>
            <a:lvl4pPr>
              <a:spcBef>
                <a:spcPts val="0"/>
              </a:spcBef>
              <a:defRPr sz="2400"/>
            </a:lvl4pPr>
            <a:lvl5pPr>
              <a:spcBef>
                <a:spcPts val="0"/>
              </a:spcBef>
              <a:defRPr sz="24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Rectangle 7"/>
          <p:cNvSpPr>
            <a:spLocks noGrp="1" noChangeArrowheads="1"/>
          </p:cNvSpPr>
          <p:nvPr>
            <p:ph type="ftr" sz="quarter" idx="10"/>
          </p:nvPr>
        </p:nvSpPr>
        <p:spPr>
          <a:ln/>
        </p:spPr>
        <p:txBody>
          <a:bodyPr/>
          <a:lstStyle>
            <a:lvl1pPr>
              <a:defRPr sz="1400"/>
            </a:lvl1pPr>
          </a:lstStyle>
          <a:p>
            <a:r>
              <a:rPr lang="vi-VN" smtClean="0"/>
              <a:t>Phần: Mô hình lớp UML và Mô hình quan hệ (review)</a:t>
            </a:r>
            <a:endParaRPr lang="en-US" dirty="0"/>
          </a:p>
        </p:txBody>
      </p:sp>
      <p:sp>
        <p:nvSpPr>
          <p:cNvPr id="5" name="Rectangle 8"/>
          <p:cNvSpPr>
            <a:spLocks noGrp="1" noChangeArrowheads="1"/>
          </p:cNvSpPr>
          <p:nvPr>
            <p:ph type="sldNum" sz="quarter" idx="11"/>
          </p:nvPr>
        </p:nvSpPr>
        <p:spPr>
          <a:ln/>
        </p:spPr>
        <p:txBody>
          <a:bodyPr/>
          <a:lstStyle>
            <a:lvl1pPr>
              <a:defRPr sz="1400"/>
            </a:lvl1pPr>
          </a:lstStyle>
          <a:p>
            <a:fld id="{099B615F-C769-49CC-AD0C-AE566D56EEA8}" type="slidenum">
              <a:rPr lang="en-US" smtClean="0"/>
              <a:pPr/>
              <a:t>‹#›</a:t>
            </a:fld>
            <a:endParaRPr lang="en-US" dirty="0"/>
          </a:p>
        </p:txBody>
      </p:sp>
    </p:spTree>
    <p:extLst>
      <p:ext uri="{BB962C8B-B14F-4D97-AF65-F5344CB8AC3E}">
        <p14:creationId xmlns:p14="http://schemas.microsoft.com/office/powerpoint/2010/main" val="2242044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9" y="1481777"/>
            <a:ext cx="7886700" cy="2472373"/>
          </a:xfrm>
        </p:spPr>
        <p:txBody>
          <a:bodyPr/>
          <a:lstStyle>
            <a:lvl1pPr>
              <a:defRPr sz="8159"/>
            </a:lvl1pPr>
          </a:lstStyle>
          <a:p>
            <a:r>
              <a:rPr lang="en-US" smtClean="0"/>
              <a:t>Click to edit Master title style</a:t>
            </a:r>
            <a:endParaRPr lang="en-US"/>
          </a:p>
        </p:txBody>
      </p:sp>
      <p:sp>
        <p:nvSpPr>
          <p:cNvPr id="3" name="Text Placeholder 2"/>
          <p:cNvSpPr>
            <a:spLocks noGrp="1"/>
          </p:cNvSpPr>
          <p:nvPr>
            <p:ph type="body" idx="1"/>
          </p:nvPr>
        </p:nvSpPr>
        <p:spPr>
          <a:xfrm>
            <a:off x="623889" y="3977540"/>
            <a:ext cx="7886700" cy="1300163"/>
          </a:xfrm>
        </p:spPr>
        <p:txBody>
          <a:bodyPr/>
          <a:lstStyle>
            <a:lvl1pPr marL="0" indent="0">
              <a:buNone/>
              <a:defRPr sz="3263"/>
            </a:lvl1pPr>
            <a:lvl2pPr marL="621700" indent="0">
              <a:buNone/>
              <a:defRPr sz="2720"/>
            </a:lvl2pPr>
            <a:lvl3pPr marL="1243401" indent="0">
              <a:buNone/>
              <a:defRPr sz="2448"/>
            </a:lvl3pPr>
            <a:lvl4pPr marL="1865101" indent="0">
              <a:buNone/>
              <a:defRPr sz="2176"/>
            </a:lvl4pPr>
            <a:lvl5pPr marL="2486801" indent="0">
              <a:buNone/>
              <a:defRPr sz="2176"/>
            </a:lvl5pPr>
            <a:lvl6pPr marL="3108502" indent="0">
              <a:buNone/>
              <a:defRPr sz="2176"/>
            </a:lvl6pPr>
            <a:lvl7pPr marL="3730201" indent="0">
              <a:buNone/>
              <a:defRPr sz="2176"/>
            </a:lvl7pPr>
            <a:lvl8pPr marL="4351903" indent="0">
              <a:buNone/>
              <a:defRPr sz="2176"/>
            </a:lvl8pPr>
            <a:lvl9pPr marL="4973603" indent="0">
              <a:buNone/>
              <a:defRPr sz="2176"/>
            </a:lvl9pPr>
          </a:lstStyle>
          <a:p>
            <a:pPr lvl="0"/>
            <a:r>
              <a:rPr lang="en-US" smtClean="0"/>
              <a:t>Click to edit Master text styles</a:t>
            </a:r>
          </a:p>
        </p:txBody>
      </p:sp>
      <p:sp>
        <p:nvSpPr>
          <p:cNvPr id="4" name="Rectangle 7"/>
          <p:cNvSpPr>
            <a:spLocks noGrp="1" noChangeArrowheads="1"/>
          </p:cNvSpPr>
          <p:nvPr>
            <p:ph type="ftr" sz="quarter" idx="10"/>
          </p:nvPr>
        </p:nvSpPr>
        <p:spPr>
          <a:ln/>
        </p:spPr>
        <p:txBody>
          <a:bodyPr/>
          <a:lstStyle>
            <a:lvl1pPr>
              <a:defRPr/>
            </a:lvl1pPr>
          </a:lstStyle>
          <a:p>
            <a:r>
              <a:rPr lang="vi-VN" smtClean="0"/>
              <a:t>Phần: Mô hình lớp UML và Mô hình quan hệ (review)</a:t>
            </a:r>
            <a:endParaRPr lang="en-US"/>
          </a:p>
        </p:txBody>
      </p:sp>
      <p:sp>
        <p:nvSpPr>
          <p:cNvPr id="5" name="Rectangle 8"/>
          <p:cNvSpPr>
            <a:spLocks noGrp="1" noChangeArrowheads="1"/>
          </p:cNvSpPr>
          <p:nvPr>
            <p:ph type="sldNum" sz="quarter" idx="11"/>
          </p:nvPr>
        </p:nvSpPr>
        <p:spPr>
          <a:ln/>
        </p:spPr>
        <p:txBody>
          <a:bodyPr/>
          <a:lstStyle>
            <a:lvl1pPr>
              <a:defRPr/>
            </a:lvl1pPr>
          </a:lstStyle>
          <a:p>
            <a:fld id="{099B615F-C769-49CC-AD0C-AE566D56EEA8}" type="slidenum">
              <a:rPr lang="en-US" smtClean="0"/>
              <a:t>‹#›</a:t>
            </a:fld>
            <a:endParaRPr lang="en-US"/>
          </a:p>
        </p:txBody>
      </p:sp>
    </p:spTree>
    <p:extLst>
      <p:ext uri="{BB962C8B-B14F-4D97-AF65-F5344CB8AC3E}">
        <p14:creationId xmlns:p14="http://schemas.microsoft.com/office/powerpoint/2010/main" val="573327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0" y="726440"/>
            <a:ext cx="4495800" cy="475488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726440"/>
            <a:ext cx="4495800" cy="475488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7"/>
          <p:cNvSpPr>
            <a:spLocks noGrp="1" noChangeArrowheads="1"/>
          </p:cNvSpPr>
          <p:nvPr>
            <p:ph type="ftr" sz="quarter" idx="10"/>
          </p:nvPr>
        </p:nvSpPr>
        <p:spPr>
          <a:ln/>
        </p:spPr>
        <p:txBody>
          <a:bodyPr/>
          <a:lstStyle>
            <a:lvl1pPr>
              <a:defRPr/>
            </a:lvl1pPr>
          </a:lstStyle>
          <a:p>
            <a:r>
              <a:rPr lang="vi-VN" smtClean="0"/>
              <a:t>Phần: Mô hình lớp UML và Mô hình quan hệ (review)</a:t>
            </a:r>
            <a:endParaRPr lang="en-US"/>
          </a:p>
        </p:txBody>
      </p:sp>
      <p:sp>
        <p:nvSpPr>
          <p:cNvPr id="6" name="Rectangle 8"/>
          <p:cNvSpPr>
            <a:spLocks noGrp="1" noChangeArrowheads="1"/>
          </p:cNvSpPr>
          <p:nvPr>
            <p:ph type="sldNum" sz="quarter" idx="11"/>
          </p:nvPr>
        </p:nvSpPr>
        <p:spPr>
          <a:ln/>
        </p:spPr>
        <p:txBody>
          <a:bodyPr/>
          <a:lstStyle>
            <a:lvl1pPr>
              <a:defRPr/>
            </a:lvl1pPr>
          </a:lstStyle>
          <a:p>
            <a:fld id="{099B615F-C769-49CC-AD0C-AE566D56EEA8}" type="slidenum">
              <a:rPr lang="en-US" smtClean="0"/>
              <a:t>‹#›</a:t>
            </a:fld>
            <a:endParaRPr lang="en-US"/>
          </a:p>
        </p:txBody>
      </p:sp>
    </p:spTree>
    <p:extLst>
      <p:ext uri="{BB962C8B-B14F-4D97-AF65-F5344CB8AC3E}">
        <p14:creationId xmlns:p14="http://schemas.microsoft.com/office/powerpoint/2010/main" val="2476772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0" y="66040"/>
            <a:ext cx="9144000" cy="528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0" y="726440"/>
            <a:ext cx="9144000" cy="4754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US" altLang="en-US" dirty="0" smtClean="0"/>
          </a:p>
        </p:txBody>
      </p:sp>
      <p:sp>
        <p:nvSpPr>
          <p:cNvPr id="1028" name="AutoShape 4"/>
          <p:cNvSpPr>
            <a:spLocks noChangeArrowheads="1"/>
          </p:cNvSpPr>
          <p:nvPr/>
        </p:nvSpPr>
        <p:spPr bwMode="auto">
          <a:xfrm>
            <a:off x="0" y="594360"/>
            <a:ext cx="9144000" cy="66040"/>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US" sz="2448"/>
          </a:p>
        </p:txBody>
      </p:sp>
      <p:sp>
        <p:nvSpPr>
          <p:cNvPr id="1029" name="Line 5"/>
          <p:cNvSpPr>
            <a:spLocks noChangeShapeType="1"/>
          </p:cNvSpPr>
          <p:nvPr/>
        </p:nvSpPr>
        <p:spPr bwMode="auto">
          <a:xfrm flipV="1">
            <a:off x="0" y="5547360"/>
            <a:ext cx="9144000" cy="0"/>
          </a:xfrm>
          <a:prstGeom prst="line">
            <a:avLst/>
          </a:prstGeom>
          <a:noFill/>
          <a:ln w="31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48"/>
          </a:p>
        </p:txBody>
      </p:sp>
      <p:sp>
        <p:nvSpPr>
          <p:cNvPr id="4103" name="Rectangle 7"/>
          <p:cNvSpPr>
            <a:spLocks noGrp="1" noChangeArrowheads="1"/>
          </p:cNvSpPr>
          <p:nvPr>
            <p:ph type="ftr" sz="quarter" idx="3"/>
          </p:nvPr>
        </p:nvSpPr>
        <p:spPr bwMode="auto">
          <a:xfrm>
            <a:off x="0" y="5613400"/>
            <a:ext cx="7467600" cy="264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sz="1768" i="1">
                <a:latin typeface="+mn-lt"/>
              </a:defRPr>
            </a:lvl1pPr>
          </a:lstStyle>
          <a:p>
            <a:r>
              <a:rPr lang="vi-VN" smtClean="0"/>
              <a:t>Phần: Mô hình lớp UML và Mô hình quan hệ (review)</a:t>
            </a:r>
            <a:endParaRPr lang="en-US"/>
          </a:p>
        </p:txBody>
      </p:sp>
      <p:sp>
        <p:nvSpPr>
          <p:cNvPr id="4104" name="Rectangle 8"/>
          <p:cNvSpPr>
            <a:spLocks noGrp="1" noChangeArrowheads="1"/>
          </p:cNvSpPr>
          <p:nvPr>
            <p:ph type="sldNum" sz="quarter" idx="4"/>
          </p:nvPr>
        </p:nvSpPr>
        <p:spPr bwMode="auto">
          <a:xfrm>
            <a:off x="8153400" y="5613400"/>
            <a:ext cx="914400" cy="2806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768">
                <a:latin typeface="+mn-lt"/>
              </a:defRPr>
            </a:lvl1pPr>
          </a:lstStyle>
          <a:p>
            <a:fld id="{099B615F-C769-49CC-AD0C-AE566D56EEA8}" type="slidenum">
              <a:rPr lang="en-US" smtClean="0"/>
              <a:t>‹#›</a:t>
            </a:fld>
            <a:endParaRPr lang="en-US"/>
          </a:p>
        </p:txBody>
      </p:sp>
    </p:spTree>
    <p:extLst>
      <p:ext uri="{BB962C8B-B14F-4D97-AF65-F5344CB8AC3E}">
        <p14:creationId xmlns:p14="http://schemas.microsoft.com/office/powerpoint/2010/main" val="24738621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dt="0"/>
  <p:txStyles>
    <p:titleStyle>
      <a:lvl1pPr algn="l" rtl="0" eaLnBrk="1" fontAlgn="base" hangingPunct="1">
        <a:spcBef>
          <a:spcPct val="0"/>
        </a:spcBef>
        <a:spcAft>
          <a:spcPct val="0"/>
        </a:spcAft>
        <a:defRPr sz="4895" kern="1200">
          <a:solidFill>
            <a:schemeClr val="tx2"/>
          </a:solidFill>
          <a:latin typeface="+mj-lt"/>
          <a:ea typeface="+mj-ea"/>
          <a:cs typeface="+mj-cs"/>
        </a:defRPr>
      </a:lvl1pPr>
      <a:lvl2pPr algn="l" rtl="0" eaLnBrk="1" fontAlgn="base" hangingPunct="1">
        <a:spcBef>
          <a:spcPct val="0"/>
        </a:spcBef>
        <a:spcAft>
          <a:spcPct val="0"/>
        </a:spcAft>
        <a:defRPr sz="4895">
          <a:solidFill>
            <a:schemeClr val="tx2"/>
          </a:solidFill>
          <a:latin typeface="Times New Roman" panose="02020603050405020304" pitchFamily="18" charset="0"/>
        </a:defRPr>
      </a:lvl2pPr>
      <a:lvl3pPr algn="l" rtl="0" eaLnBrk="1" fontAlgn="base" hangingPunct="1">
        <a:spcBef>
          <a:spcPct val="0"/>
        </a:spcBef>
        <a:spcAft>
          <a:spcPct val="0"/>
        </a:spcAft>
        <a:defRPr sz="4895">
          <a:solidFill>
            <a:schemeClr val="tx2"/>
          </a:solidFill>
          <a:latin typeface="Times New Roman" panose="02020603050405020304" pitchFamily="18" charset="0"/>
        </a:defRPr>
      </a:lvl3pPr>
      <a:lvl4pPr algn="l" rtl="0" eaLnBrk="1" fontAlgn="base" hangingPunct="1">
        <a:spcBef>
          <a:spcPct val="0"/>
        </a:spcBef>
        <a:spcAft>
          <a:spcPct val="0"/>
        </a:spcAft>
        <a:defRPr sz="4895">
          <a:solidFill>
            <a:schemeClr val="tx2"/>
          </a:solidFill>
          <a:latin typeface="Times New Roman" panose="02020603050405020304" pitchFamily="18" charset="0"/>
        </a:defRPr>
      </a:lvl4pPr>
      <a:lvl5pPr algn="l" rtl="0" eaLnBrk="1" fontAlgn="base" hangingPunct="1">
        <a:spcBef>
          <a:spcPct val="0"/>
        </a:spcBef>
        <a:spcAft>
          <a:spcPct val="0"/>
        </a:spcAft>
        <a:defRPr sz="4895">
          <a:solidFill>
            <a:schemeClr val="tx2"/>
          </a:solidFill>
          <a:latin typeface="Times New Roman" panose="02020603050405020304" pitchFamily="18" charset="0"/>
        </a:defRPr>
      </a:lvl5pPr>
      <a:lvl6pPr marL="621700" algn="l" rtl="0" eaLnBrk="1" fontAlgn="base" hangingPunct="1">
        <a:spcBef>
          <a:spcPct val="0"/>
        </a:spcBef>
        <a:spcAft>
          <a:spcPct val="0"/>
        </a:spcAft>
        <a:defRPr sz="4895">
          <a:solidFill>
            <a:schemeClr val="tx2"/>
          </a:solidFill>
          <a:latin typeface="Times New Roman" panose="02020603050405020304" pitchFamily="18" charset="0"/>
        </a:defRPr>
      </a:lvl6pPr>
      <a:lvl7pPr marL="1243401" algn="l" rtl="0" eaLnBrk="1" fontAlgn="base" hangingPunct="1">
        <a:spcBef>
          <a:spcPct val="0"/>
        </a:spcBef>
        <a:spcAft>
          <a:spcPct val="0"/>
        </a:spcAft>
        <a:defRPr sz="4895">
          <a:solidFill>
            <a:schemeClr val="tx2"/>
          </a:solidFill>
          <a:latin typeface="Times New Roman" panose="02020603050405020304" pitchFamily="18" charset="0"/>
        </a:defRPr>
      </a:lvl7pPr>
      <a:lvl8pPr marL="1865101" algn="l" rtl="0" eaLnBrk="1" fontAlgn="base" hangingPunct="1">
        <a:spcBef>
          <a:spcPct val="0"/>
        </a:spcBef>
        <a:spcAft>
          <a:spcPct val="0"/>
        </a:spcAft>
        <a:defRPr sz="4895">
          <a:solidFill>
            <a:schemeClr val="tx2"/>
          </a:solidFill>
          <a:latin typeface="Times New Roman" panose="02020603050405020304" pitchFamily="18" charset="0"/>
        </a:defRPr>
      </a:lvl8pPr>
      <a:lvl9pPr marL="2486801" algn="l" rtl="0" eaLnBrk="1" fontAlgn="base" hangingPunct="1">
        <a:spcBef>
          <a:spcPct val="0"/>
        </a:spcBef>
        <a:spcAft>
          <a:spcPct val="0"/>
        </a:spcAft>
        <a:defRPr sz="4895">
          <a:solidFill>
            <a:schemeClr val="tx2"/>
          </a:solidFill>
          <a:latin typeface="Times New Roman" panose="02020603050405020304" pitchFamily="18" charset="0"/>
        </a:defRPr>
      </a:lvl9pPr>
    </p:titleStyle>
    <p:bodyStyle>
      <a:lvl1pPr marL="638970" indent="-638970" algn="l" rtl="0" eaLnBrk="1" fontAlgn="base" hangingPunct="1">
        <a:spcBef>
          <a:spcPct val="20000"/>
        </a:spcBef>
        <a:spcAft>
          <a:spcPct val="0"/>
        </a:spcAft>
        <a:buClr>
          <a:schemeClr val="accent2"/>
        </a:buClr>
        <a:buFont typeface="Wingdings" panose="05000000000000000000" pitchFamily="2" charset="2"/>
        <a:buChar char="o"/>
        <a:defRPr sz="3263" kern="1200">
          <a:solidFill>
            <a:schemeClr val="tx1"/>
          </a:solidFill>
          <a:latin typeface="+mn-lt"/>
          <a:ea typeface="+mn-ea"/>
          <a:cs typeface="+mn-cs"/>
        </a:defRPr>
      </a:lvl1pPr>
      <a:lvl2pPr marL="1234766" indent="-593638" algn="l" rtl="0" eaLnBrk="1" fontAlgn="base" hangingPunct="1">
        <a:spcBef>
          <a:spcPct val="20000"/>
        </a:spcBef>
        <a:spcAft>
          <a:spcPct val="0"/>
        </a:spcAft>
        <a:buClr>
          <a:schemeClr val="accent2"/>
        </a:buClr>
        <a:buFont typeface="Wingdings" panose="05000000000000000000" pitchFamily="2" charset="2"/>
        <a:buChar char="n"/>
        <a:defRPr sz="3263" kern="1200">
          <a:solidFill>
            <a:schemeClr val="tx1"/>
          </a:solidFill>
          <a:latin typeface="+mn-lt"/>
          <a:ea typeface="+mn-ea"/>
          <a:cs typeface="+mn-cs"/>
        </a:defRPr>
      </a:lvl2pPr>
      <a:lvl3pPr marL="1774436" indent="-537512" algn="l" rtl="0" eaLnBrk="1" fontAlgn="base" hangingPunct="1">
        <a:spcBef>
          <a:spcPct val="20000"/>
        </a:spcBef>
        <a:spcAft>
          <a:spcPct val="0"/>
        </a:spcAft>
        <a:buClr>
          <a:schemeClr val="accent2"/>
        </a:buClr>
        <a:buFont typeface="Wingdings" panose="05000000000000000000" pitchFamily="2" charset="2"/>
        <a:buChar char="o"/>
        <a:defRPr sz="3263" kern="1200">
          <a:solidFill>
            <a:schemeClr val="tx1"/>
          </a:solidFill>
          <a:latin typeface="+mn-lt"/>
          <a:ea typeface="+mn-ea"/>
          <a:cs typeface="+mn-cs"/>
        </a:defRPr>
      </a:lvl3pPr>
      <a:lvl4pPr marL="2303314" indent="-526717" algn="l" rtl="0" eaLnBrk="1" fontAlgn="base" hangingPunct="1">
        <a:spcBef>
          <a:spcPct val="20000"/>
        </a:spcBef>
        <a:spcAft>
          <a:spcPct val="0"/>
        </a:spcAft>
        <a:buClr>
          <a:schemeClr val="accent2"/>
        </a:buClr>
        <a:buFont typeface="Wingdings" panose="05000000000000000000" pitchFamily="2" charset="2"/>
        <a:buChar char="n"/>
        <a:defRPr sz="3263" kern="1200">
          <a:solidFill>
            <a:schemeClr val="tx1"/>
          </a:solidFill>
          <a:latin typeface="+mn-lt"/>
          <a:ea typeface="+mn-ea"/>
          <a:cs typeface="+mn-cs"/>
        </a:defRPr>
      </a:lvl4pPr>
      <a:lvl5pPr marL="2847302" indent="-541831" algn="l" rtl="0" eaLnBrk="1" fontAlgn="base" hangingPunct="1">
        <a:spcBef>
          <a:spcPct val="25000"/>
        </a:spcBef>
        <a:spcAft>
          <a:spcPct val="0"/>
        </a:spcAft>
        <a:buClr>
          <a:schemeClr val="accent2"/>
        </a:buClr>
        <a:buFont typeface="Wingdings" panose="05000000000000000000" pitchFamily="2" charset="2"/>
        <a:buChar char="§"/>
        <a:defRPr sz="3263" kern="1200">
          <a:solidFill>
            <a:schemeClr val="tx1"/>
          </a:solidFill>
          <a:latin typeface="+mn-lt"/>
          <a:ea typeface="+mn-ea"/>
          <a:cs typeface="+mn-cs"/>
        </a:defRPr>
      </a:lvl5pPr>
      <a:lvl6pPr marL="3419352" indent="-310851" algn="l" defTabSz="1243401" rtl="0" eaLnBrk="1" latinLnBrk="0" hangingPunct="1">
        <a:lnSpc>
          <a:spcPct val="90000"/>
        </a:lnSpc>
        <a:spcBef>
          <a:spcPts val="680"/>
        </a:spcBef>
        <a:buFont typeface="Arial" panose="020B0604020202020204" pitchFamily="34" charset="0"/>
        <a:buChar char="•"/>
        <a:defRPr sz="2448" kern="1200">
          <a:solidFill>
            <a:schemeClr val="tx1"/>
          </a:solidFill>
          <a:latin typeface="+mn-lt"/>
          <a:ea typeface="+mn-ea"/>
          <a:cs typeface="+mn-cs"/>
        </a:defRPr>
      </a:lvl6pPr>
      <a:lvl7pPr marL="4041052" indent="-310851" algn="l" defTabSz="1243401" rtl="0" eaLnBrk="1" latinLnBrk="0" hangingPunct="1">
        <a:lnSpc>
          <a:spcPct val="90000"/>
        </a:lnSpc>
        <a:spcBef>
          <a:spcPts val="680"/>
        </a:spcBef>
        <a:buFont typeface="Arial" panose="020B0604020202020204" pitchFamily="34" charset="0"/>
        <a:buChar char="•"/>
        <a:defRPr sz="2448" kern="1200">
          <a:solidFill>
            <a:schemeClr val="tx1"/>
          </a:solidFill>
          <a:latin typeface="+mn-lt"/>
          <a:ea typeface="+mn-ea"/>
          <a:cs typeface="+mn-cs"/>
        </a:defRPr>
      </a:lvl7pPr>
      <a:lvl8pPr marL="4662752" indent="-310851" algn="l" defTabSz="1243401" rtl="0" eaLnBrk="1" latinLnBrk="0" hangingPunct="1">
        <a:lnSpc>
          <a:spcPct val="90000"/>
        </a:lnSpc>
        <a:spcBef>
          <a:spcPts val="680"/>
        </a:spcBef>
        <a:buFont typeface="Arial" panose="020B0604020202020204" pitchFamily="34" charset="0"/>
        <a:buChar char="•"/>
        <a:defRPr sz="2448" kern="1200">
          <a:solidFill>
            <a:schemeClr val="tx1"/>
          </a:solidFill>
          <a:latin typeface="+mn-lt"/>
          <a:ea typeface="+mn-ea"/>
          <a:cs typeface="+mn-cs"/>
        </a:defRPr>
      </a:lvl8pPr>
      <a:lvl9pPr marL="5284453" indent="-310851" algn="l" defTabSz="1243401" rtl="0" eaLnBrk="1" latinLnBrk="0" hangingPunct="1">
        <a:lnSpc>
          <a:spcPct val="90000"/>
        </a:lnSpc>
        <a:spcBef>
          <a:spcPts val="680"/>
        </a:spcBef>
        <a:buFont typeface="Arial" panose="020B0604020202020204" pitchFamily="34" charset="0"/>
        <a:buChar char="•"/>
        <a:defRPr sz="2448" kern="1200">
          <a:solidFill>
            <a:schemeClr val="tx1"/>
          </a:solidFill>
          <a:latin typeface="+mn-lt"/>
          <a:ea typeface="+mn-ea"/>
          <a:cs typeface="+mn-cs"/>
        </a:defRPr>
      </a:lvl9pPr>
    </p:bodyStyle>
    <p:otherStyle>
      <a:defPPr>
        <a:defRPr lang="en-US"/>
      </a:defPPr>
      <a:lvl1pPr marL="0" algn="l" defTabSz="1243401" rtl="0" eaLnBrk="1" latinLnBrk="0" hangingPunct="1">
        <a:defRPr sz="2448" kern="1200">
          <a:solidFill>
            <a:schemeClr val="tx1"/>
          </a:solidFill>
          <a:latin typeface="+mn-lt"/>
          <a:ea typeface="+mn-ea"/>
          <a:cs typeface="+mn-cs"/>
        </a:defRPr>
      </a:lvl1pPr>
      <a:lvl2pPr marL="621700" algn="l" defTabSz="1243401" rtl="0" eaLnBrk="1" latinLnBrk="0" hangingPunct="1">
        <a:defRPr sz="2448" kern="1200">
          <a:solidFill>
            <a:schemeClr val="tx1"/>
          </a:solidFill>
          <a:latin typeface="+mn-lt"/>
          <a:ea typeface="+mn-ea"/>
          <a:cs typeface="+mn-cs"/>
        </a:defRPr>
      </a:lvl2pPr>
      <a:lvl3pPr marL="1243401" algn="l" defTabSz="1243401" rtl="0" eaLnBrk="1" latinLnBrk="0" hangingPunct="1">
        <a:defRPr sz="2448" kern="1200">
          <a:solidFill>
            <a:schemeClr val="tx1"/>
          </a:solidFill>
          <a:latin typeface="+mn-lt"/>
          <a:ea typeface="+mn-ea"/>
          <a:cs typeface="+mn-cs"/>
        </a:defRPr>
      </a:lvl3pPr>
      <a:lvl4pPr marL="1865101" algn="l" defTabSz="1243401" rtl="0" eaLnBrk="1" latinLnBrk="0" hangingPunct="1">
        <a:defRPr sz="2448" kern="1200">
          <a:solidFill>
            <a:schemeClr val="tx1"/>
          </a:solidFill>
          <a:latin typeface="+mn-lt"/>
          <a:ea typeface="+mn-ea"/>
          <a:cs typeface="+mn-cs"/>
        </a:defRPr>
      </a:lvl4pPr>
      <a:lvl5pPr marL="2486801" algn="l" defTabSz="1243401" rtl="0" eaLnBrk="1" latinLnBrk="0" hangingPunct="1">
        <a:defRPr sz="2448" kern="1200">
          <a:solidFill>
            <a:schemeClr val="tx1"/>
          </a:solidFill>
          <a:latin typeface="+mn-lt"/>
          <a:ea typeface="+mn-ea"/>
          <a:cs typeface="+mn-cs"/>
        </a:defRPr>
      </a:lvl5pPr>
      <a:lvl6pPr marL="3108502" algn="l" defTabSz="1243401" rtl="0" eaLnBrk="1" latinLnBrk="0" hangingPunct="1">
        <a:defRPr sz="2448" kern="1200">
          <a:solidFill>
            <a:schemeClr val="tx1"/>
          </a:solidFill>
          <a:latin typeface="+mn-lt"/>
          <a:ea typeface="+mn-ea"/>
          <a:cs typeface="+mn-cs"/>
        </a:defRPr>
      </a:lvl6pPr>
      <a:lvl7pPr marL="3730201" algn="l" defTabSz="1243401" rtl="0" eaLnBrk="1" latinLnBrk="0" hangingPunct="1">
        <a:defRPr sz="2448" kern="1200">
          <a:solidFill>
            <a:schemeClr val="tx1"/>
          </a:solidFill>
          <a:latin typeface="+mn-lt"/>
          <a:ea typeface="+mn-ea"/>
          <a:cs typeface="+mn-cs"/>
        </a:defRPr>
      </a:lvl7pPr>
      <a:lvl8pPr marL="4351903" algn="l" defTabSz="1243401" rtl="0" eaLnBrk="1" latinLnBrk="0" hangingPunct="1">
        <a:defRPr sz="2448" kern="1200">
          <a:solidFill>
            <a:schemeClr val="tx1"/>
          </a:solidFill>
          <a:latin typeface="+mn-lt"/>
          <a:ea typeface="+mn-ea"/>
          <a:cs typeface="+mn-cs"/>
        </a:defRPr>
      </a:lvl8pPr>
      <a:lvl9pPr marL="4973603" algn="l" defTabSz="1243401" rtl="0" eaLnBrk="1" latinLnBrk="0" hangingPunct="1">
        <a:defRPr sz="2448" kern="1200">
          <a:solidFill>
            <a:schemeClr val="tx1"/>
          </a:solidFill>
          <a:latin typeface="+mn-lt"/>
          <a:ea typeface="+mn-ea"/>
          <a:cs typeface="+mn-cs"/>
        </a:defRPr>
      </a:lvl9pPr>
    </p:otherStyle>
  </p:txStyles>
  <p:extLst mod="1">
    <p:ext uri="{27BBF7A9-308A-43DC-89C8-2F10F3537804}">
      <p15:sldGuideLst xmlns:p15="http://schemas.microsoft.com/office/powerpoint/2012/main" xmlns=""/>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000" dirty="0" err="1"/>
              <a:t>Môn</a:t>
            </a:r>
            <a:r>
              <a:rPr lang="en-US" sz="4000" dirty="0"/>
              <a:t>: PHÁT TRIỂN ỨNG DỤNG</a:t>
            </a:r>
          </a:p>
        </p:txBody>
      </p:sp>
      <p:sp>
        <p:nvSpPr>
          <p:cNvPr id="3" name="Subtitle 2"/>
          <p:cNvSpPr>
            <a:spLocks noGrp="1"/>
          </p:cNvSpPr>
          <p:nvPr>
            <p:ph type="subTitle" idx="1"/>
          </p:nvPr>
        </p:nvSpPr>
        <p:spPr>
          <a:xfrm>
            <a:off x="-1" y="2175310"/>
            <a:ext cx="9144001" cy="1493520"/>
          </a:xfrm>
        </p:spPr>
        <p:txBody>
          <a:bodyPr/>
          <a:lstStyle/>
          <a:p>
            <a:r>
              <a:rPr lang="en-US" sz="3600" smtClean="0"/>
              <a:t>Phần: Mô hình lớp UML và EER (review</a:t>
            </a:r>
            <a:r>
              <a:rPr lang="en-US" sz="3600" dirty="0" smtClean="0"/>
              <a:t>)</a:t>
            </a:r>
            <a:endParaRPr lang="en-US" sz="3600" dirty="0"/>
          </a:p>
          <a:p>
            <a:endParaRPr lang="en-US" dirty="0"/>
          </a:p>
        </p:txBody>
      </p:sp>
    </p:spTree>
    <p:extLst>
      <p:ext uri="{BB962C8B-B14F-4D97-AF65-F5344CB8AC3E}">
        <p14:creationId xmlns:p14="http://schemas.microsoft.com/office/powerpoint/2010/main" val="4162312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Nội</a:t>
            </a:r>
            <a:r>
              <a:rPr lang="en-US" dirty="0" smtClean="0"/>
              <a:t> dung</a:t>
            </a:r>
            <a:endParaRPr lang="en-US" dirty="0"/>
          </a:p>
        </p:txBody>
      </p:sp>
      <p:sp>
        <p:nvSpPr>
          <p:cNvPr id="3" name="Content Placeholder 2"/>
          <p:cNvSpPr>
            <a:spLocks noGrp="1"/>
          </p:cNvSpPr>
          <p:nvPr>
            <p:ph idx="1"/>
          </p:nvPr>
        </p:nvSpPr>
        <p:spPr/>
        <p:txBody>
          <a:bodyPr/>
          <a:lstStyle/>
          <a:p>
            <a:r>
              <a:rPr lang="en-US" smtClean="0"/>
              <a:t>Phân biệt các thành phần trong mô hình lớp (Class Diagram - UML) với EER</a:t>
            </a:r>
          </a:p>
          <a:p>
            <a:r>
              <a:rPr lang="en-US" smtClean="0"/>
              <a:t>Chuyển từ mô hình lớp sang EER</a:t>
            </a:r>
          </a:p>
          <a:p>
            <a:r>
              <a:rPr lang="en-US" smtClean="0"/>
              <a:t>Bài tập</a:t>
            </a:r>
            <a:endParaRPr lang="en-US" dirty="0"/>
          </a:p>
        </p:txBody>
      </p:sp>
      <p:sp>
        <p:nvSpPr>
          <p:cNvPr id="4" name="Footer Placeholder 3"/>
          <p:cNvSpPr>
            <a:spLocks noGrp="1"/>
          </p:cNvSpPr>
          <p:nvPr>
            <p:ph type="ftr" sz="quarter" idx="10"/>
          </p:nvPr>
        </p:nvSpPr>
        <p:spPr/>
        <p:txBody>
          <a:bodyPr/>
          <a:lstStyle/>
          <a:p>
            <a:r>
              <a:rPr lang="vi-VN" smtClean="0"/>
              <a:t>Phần: Mô hình lớp UML và Mô hình quan hệ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2</a:t>
            </a:fld>
            <a:endParaRPr lang="en-US" dirty="0"/>
          </a:p>
        </p:txBody>
      </p:sp>
    </p:spTree>
    <p:extLst>
      <p:ext uri="{BB962C8B-B14F-4D97-AF65-F5344CB8AC3E}">
        <p14:creationId xmlns:p14="http://schemas.microsoft.com/office/powerpoint/2010/main" val="187856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Các thành </a:t>
            </a:r>
            <a:r>
              <a:rPr lang="vi-VN" smtClean="0"/>
              <a:t>phần</a:t>
            </a:r>
            <a:r>
              <a:rPr lang="en-US" smtClean="0"/>
              <a:t> </a:t>
            </a:r>
            <a:r>
              <a:rPr lang="vi-VN" smtClean="0"/>
              <a:t>UML </a:t>
            </a:r>
            <a:r>
              <a:rPr lang="vi-VN"/>
              <a:t>tương ứng với EER</a:t>
            </a:r>
            <a:endParaRPr lang="en-US"/>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636178621"/>
              </p:ext>
            </p:extLst>
          </p:nvPr>
        </p:nvGraphicFramePr>
        <p:xfrm>
          <a:off x="422030" y="1064657"/>
          <a:ext cx="8299940" cy="3542969"/>
        </p:xfrm>
        <a:graphic>
          <a:graphicData uri="http://schemas.openxmlformats.org/drawingml/2006/table">
            <a:tbl>
              <a:tblPr firstRow="1" firstCol="1" bandRow="1">
                <a:tableStyleId>{5DA37D80-6434-44D0-A028-1B22A696006F}</a:tableStyleId>
              </a:tblPr>
              <a:tblGrid>
                <a:gridCol w="4375601"/>
                <a:gridCol w="3924339"/>
              </a:tblGrid>
              <a:tr h="164764">
                <a:tc>
                  <a:txBody>
                    <a:bodyPr/>
                    <a:lstStyle/>
                    <a:p>
                      <a:pPr algn="ctr">
                        <a:lnSpc>
                          <a:spcPct val="120000"/>
                        </a:lnSpc>
                        <a:spcBef>
                          <a:spcPts val="300"/>
                        </a:spcBef>
                        <a:spcAft>
                          <a:spcPts val="300"/>
                        </a:spcAft>
                      </a:pPr>
                      <a:r>
                        <a:rPr lang="en-US" sz="2400">
                          <a:effectLst/>
                        </a:rPr>
                        <a:t>UML</a:t>
                      </a:r>
                      <a:endParaRPr lang="en-US" sz="2400" b="0">
                        <a:effectLst/>
                        <a:latin typeface="Times New Roman" panose="02020603050405020304" pitchFamily="18" charset="0"/>
                        <a:ea typeface="Calibri" panose="020F0502020204030204" pitchFamily="34" charset="0"/>
                        <a:cs typeface="Times New Roman" panose="02020603050405020304" pitchFamily="18" charset="0"/>
                      </a:endParaRPr>
                    </a:p>
                  </a:txBody>
                  <a:tcPr marL="31580" marR="31580" marT="0" marB="0"/>
                </a:tc>
                <a:tc>
                  <a:txBody>
                    <a:bodyPr/>
                    <a:lstStyle/>
                    <a:p>
                      <a:pPr algn="ctr">
                        <a:lnSpc>
                          <a:spcPct val="120000"/>
                        </a:lnSpc>
                        <a:spcBef>
                          <a:spcPts val="300"/>
                        </a:spcBef>
                        <a:spcAft>
                          <a:spcPts val="300"/>
                        </a:spcAft>
                      </a:pPr>
                      <a:r>
                        <a:rPr lang="en-US" sz="2400">
                          <a:effectLst/>
                        </a:rPr>
                        <a:t>EER</a:t>
                      </a:r>
                      <a:endParaRPr lang="en-US" sz="2400" b="0">
                        <a:effectLst/>
                        <a:latin typeface="Times New Roman" panose="02020603050405020304" pitchFamily="18" charset="0"/>
                        <a:ea typeface="Calibri" panose="020F0502020204030204" pitchFamily="34" charset="0"/>
                        <a:cs typeface="Times New Roman" panose="02020603050405020304" pitchFamily="18" charset="0"/>
                      </a:endParaRPr>
                    </a:p>
                  </a:txBody>
                  <a:tcPr marL="31580" marR="31580" marT="0" marB="0"/>
                </a:tc>
              </a:tr>
              <a:tr h="3104057">
                <a:tc>
                  <a:txBody>
                    <a:bodyPr/>
                    <a:lstStyle/>
                    <a:p>
                      <a:pPr algn="just">
                        <a:lnSpc>
                          <a:spcPct val="100000"/>
                        </a:lnSpc>
                        <a:spcBef>
                          <a:spcPts val="0"/>
                        </a:spcBef>
                        <a:spcAft>
                          <a:spcPts val="0"/>
                        </a:spcAft>
                      </a:pPr>
                      <a:r>
                        <a:rPr lang="en-US" sz="2400" b="0">
                          <a:effectLst/>
                        </a:rPr>
                        <a:t>UML (Unified Modeling Language) là ngôn ngữ dành cho việc đặc tả, hình dung, xây dựng và làm tài liệu của các hệ thống phần mềm. </a:t>
                      </a:r>
                      <a:r>
                        <a:rPr lang="vi-VN" sz="2400" b="0" kern="1200" smtClean="0">
                          <a:effectLst/>
                        </a:rPr>
                        <a:t>UML là ngôn ngữ mô hình hóa thống nhất chuẩn để thiết kế phần mềm hướng đối tượng</a:t>
                      </a:r>
                      <a:endParaRPr lang="en-US" sz="2400" b="0">
                        <a:effectLst/>
                        <a:latin typeface="Times New Roman" panose="02020603050405020304" pitchFamily="18" charset="0"/>
                        <a:ea typeface="Calibri" panose="020F0502020204030204" pitchFamily="34" charset="0"/>
                        <a:cs typeface="Times New Roman" panose="02020603050405020304" pitchFamily="18" charset="0"/>
                      </a:endParaRPr>
                    </a:p>
                  </a:txBody>
                  <a:tcPr marL="31580" marR="31580" marT="0" marB="0"/>
                </a:tc>
                <a:tc>
                  <a:txBody>
                    <a:bodyPr/>
                    <a:lstStyle/>
                    <a:p>
                      <a:pPr algn="just">
                        <a:lnSpc>
                          <a:spcPct val="100000"/>
                        </a:lnSpc>
                        <a:spcBef>
                          <a:spcPts val="0"/>
                        </a:spcBef>
                        <a:spcAft>
                          <a:spcPts val="0"/>
                        </a:spcAft>
                      </a:pPr>
                      <a:r>
                        <a:rPr lang="en-US" sz="2400" b="0">
                          <a:effectLst/>
                        </a:rPr>
                        <a:t>EER Mô hình liên kết thực thể mở rộng được sử dụng trong thiết kế cơ sở dữ liệu quan hệ.</a:t>
                      </a:r>
                      <a:endParaRPr lang="en-US" sz="2400" b="0">
                        <a:effectLst/>
                        <a:latin typeface="Times New Roman" panose="02020603050405020304" pitchFamily="18" charset="0"/>
                        <a:ea typeface="Calibri" panose="020F0502020204030204" pitchFamily="34" charset="0"/>
                        <a:cs typeface="Times New Roman" panose="02020603050405020304" pitchFamily="18" charset="0"/>
                      </a:endParaRPr>
                    </a:p>
                  </a:txBody>
                  <a:tcPr marL="31580" marR="31580" marT="0" marB="0"/>
                </a:tc>
              </a:tr>
            </a:tbl>
          </a:graphicData>
        </a:graphic>
      </p:graphicFrame>
      <p:sp>
        <p:nvSpPr>
          <p:cNvPr id="4" name="Footer Placeholder 3"/>
          <p:cNvSpPr>
            <a:spLocks noGrp="1"/>
          </p:cNvSpPr>
          <p:nvPr>
            <p:ph type="ftr" sz="quarter" idx="10"/>
          </p:nvPr>
        </p:nvSpPr>
        <p:spPr/>
        <p:txBody>
          <a:bodyPr/>
          <a:lstStyle/>
          <a:p>
            <a:r>
              <a:rPr lang="vi-VN" smtClean="0"/>
              <a:t>Phần: Mô hình lớp UML và Mô hình quan hệ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3</a:t>
            </a:fld>
            <a:endParaRPr lang="en-US" dirty="0"/>
          </a:p>
        </p:txBody>
      </p:sp>
    </p:spTree>
    <p:extLst>
      <p:ext uri="{BB962C8B-B14F-4D97-AF65-F5344CB8AC3E}">
        <p14:creationId xmlns:p14="http://schemas.microsoft.com/office/powerpoint/2010/main" val="982661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Các thành phần của Mô hình lớp và </a:t>
            </a:r>
            <a:r>
              <a:rPr lang="vi-VN" smtClean="0"/>
              <a:t>EER</a:t>
            </a:r>
            <a:endParaRPr lang="en-US"/>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845745829"/>
              </p:ext>
            </p:extLst>
          </p:nvPr>
        </p:nvGraphicFramePr>
        <p:xfrm>
          <a:off x="422030" y="756920"/>
          <a:ext cx="8299940" cy="4693920"/>
        </p:xfrm>
        <a:graphic>
          <a:graphicData uri="http://schemas.openxmlformats.org/drawingml/2006/table">
            <a:tbl>
              <a:tblPr firstRow="1" firstCol="1" bandRow="1">
                <a:tableStyleId>{5DA37D80-6434-44D0-A028-1B22A696006F}</a:tableStyleId>
              </a:tblPr>
              <a:tblGrid>
                <a:gridCol w="3971840"/>
                <a:gridCol w="4328100"/>
              </a:tblGrid>
              <a:tr h="312665">
                <a:tc>
                  <a:txBody>
                    <a:bodyPr/>
                    <a:lstStyle/>
                    <a:p>
                      <a:pPr algn="ctr">
                        <a:lnSpc>
                          <a:spcPct val="100000"/>
                        </a:lnSpc>
                        <a:spcBef>
                          <a:spcPts val="0"/>
                        </a:spcBef>
                        <a:spcAft>
                          <a:spcPts val="0"/>
                        </a:spcAft>
                      </a:pPr>
                      <a:r>
                        <a:rPr lang="en-US" sz="2400">
                          <a:effectLst/>
                        </a:rPr>
                        <a:t>UML</a:t>
                      </a:r>
                      <a:endParaRPr lang="en-US" sz="2400" b="0">
                        <a:effectLst/>
                        <a:latin typeface="Times New Roman" panose="02020603050405020304" pitchFamily="18" charset="0"/>
                        <a:ea typeface="Calibri" panose="020F0502020204030204" pitchFamily="34" charset="0"/>
                        <a:cs typeface="Times New Roman" panose="02020603050405020304" pitchFamily="18" charset="0"/>
                      </a:endParaRPr>
                    </a:p>
                  </a:txBody>
                  <a:tcPr marL="31580" marR="31580" marT="0" marB="0"/>
                </a:tc>
                <a:tc>
                  <a:txBody>
                    <a:bodyPr/>
                    <a:lstStyle/>
                    <a:p>
                      <a:pPr algn="ctr">
                        <a:lnSpc>
                          <a:spcPct val="100000"/>
                        </a:lnSpc>
                        <a:spcBef>
                          <a:spcPts val="0"/>
                        </a:spcBef>
                        <a:spcAft>
                          <a:spcPts val="0"/>
                        </a:spcAft>
                      </a:pPr>
                      <a:r>
                        <a:rPr lang="en-US" sz="2400">
                          <a:effectLst/>
                        </a:rPr>
                        <a:t>EER</a:t>
                      </a:r>
                      <a:endParaRPr lang="en-US" sz="2400" b="0">
                        <a:effectLst/>
                        <a:latin typeface="Times New Roman" panose="02020603050405020304" pitchFamily="18" charset="0"/>
                        <a:ea typeface="Calibri" panose="020F0502020204030204" pitchFamily="34" charset="0"/>
                        <a:cs typeface="Times New Roman" panose="02020603050405020304" pitchFamily="18" charset="0"/>
                      </a:endParaRPr>
                    </a:p>
                  </a:txBody>
                  <a:tcPr marL="31580" marR="31580" marT="0" marB="0"/>
                </a:tc>
              </a:tr>
              <a:tr h="83343">
                <a:tc>
                  <a:txBody>
                    <a:bodyPr/>
                    <a:lstStyle/>
                    <a:p>
                      <a:pPr marL="0" marR="0" lvl="0" indent="0" algn="just" defTabSz="1243401" rtl="0" eaLnBrk="1" fontAlgn="auto" latinLnBrk="0" hangingPunct="1">
                        <a:lnSpc>
                          <a:spcPct val="100000"/>
                        </a:lnSpc>
                        <a:spcBef>
                          <a:spcPts val="0"/>
                        </a:spcBef>
                        <a:spcAft>
                          <a:spcPts val="0"/>
                        </a:spcAft>
                        <a:buClrTx/>
                        <a:buSzTx/>
                        <a:buFontTx/>
                        <a:buNone/>
                        <a:tabLst/>
                        <a:defRPr/>
                      </a:pPr>
                      <a:r>
                        <a:rPr lang="en-US" sz="2000" b="0" smtClean="0">
                          <a:effectLst/>
                        </a:rPr>
                        <a:t>Biểu đồ lớp trong UML (UML Class Diagram)</a:t>
                      </a:r>
                    </a:p>
                  </a:txBody>
                  <a:tcPr marL="31580" marR="31580" marT="0" marB="0"/>
                </a:tc>
                <a:tc>
                  <a:txBody>
                    <a:bodyPr/>
                    <a:lstStyle/>
                    <a:p>
                      <a:pPr marL="0" marR="0" lvl="0" indent="0" algn="l" defTabSz="1243401" rtl="0" eaLnBrk="1" fontAlgn="auto" latinLnBrk="0" hangingPunct="1">
                        <a:lnSpc>
                          <a:spcPct val="100000"/>
                        </a:lnSpc>
                        <a:spcBef>
                          <a:spcPts val="0"/>
                        </a:spcBef>
                        <a:spcAft>
                          <a:spcPts val="0"/>
                        </a:spcAft>
                        <a:buClrTx/>
                        <a:buSzTx/>
                        <a:buFontTx/>
                        <a:buNone/>
                        <a:tabLst/>
                        <a:defRPr/>
                      </a:pPr>
                      <a:r>
                        <a:rPr lang="en-US" sz="2000" smtClean="0">
                          <a:effectLst/>
                        </a:rPr>
                        <a:t>Mô hình EER (EER Diagram)</a:t>
                      </a:r>
                    </a:p>
                    <a:p>
                      <a:pPr>
                        <a:lnSpc>
                          <a:spcPct val="100000"/>
                        </a:lnSpc>
                        <a:spcBef>
                          <a:spcPts val="0"/>
                        </a:spcBef>
                        <a:spcAft>
                          <a:spcPts val="0"/>
                        </a:spcAft>
                      </a:pPr>
                      <a:endParaRPr lang="en-US" sz="2000" u="sng" smtClean="0">
                        <a:effectLst/>
                      </a:endParaRPr>
                    </a:p>
                  </a:txBody>
                  <a:tcPr marL="31580" marR="31580" marT="0" marB="0"/>
                </a:tc>
              </a:tr>
              <a:tr h="189895">
                <a:tc>
                  <a:txBody>
                    <a:bodyPr/>
                    <a:lstStyle/>
                    <a:p>
                      <a:pPr marL="0" marR="0" lvl="0" indent="0" algn="just" defTabSz="1243401" rtl="0" eaLnBrk="1" fontAlgn="auto" latinLnBrk="0" hangingPunct="1">
                        <a:lnSpc>
                          <a:spcPct val="100000"/>
                        </a:lnSpc>
                        <a:spcBef>
                          <a:spcPts val="0"/>
                        </a:spcBef>
                        <a:spcAft>
                          <a:spcPts val="0"/>
                        </a:spcAft>
                        <a:buClrTx/>
                        <a:buSzTx/>
                        <a:buFontTx/>
                        <a:buNone/>
                        <a:tabLst/>
                        <a:defRPr/>
                      </a:pPr>
                      <a:r>
                        <a:rPr lang="en-US" sz="2000" b="0" smtClean="0"/>
                        <a:t>Lớp (Class)</a:t>
                      </a:r>
                    </a:p>
                  </a:txBody>
                  <a:tcPr marL="31580" marR="31580" marT="0" marB="0"/>
                </a:tc>
                <a:tc>
                  <a:txBody>
                    <a:bodyPr/>
                    <a:lstStyle/>
                    <a:p>
                      <a:pPr marL="0" marR="0" lvl="0" indent="0" algn="just" defTabSz="1243401" rtl="0" eaLnBrk="1" fontAlgn="auto" latinLnBrk="0" hangingPunct="1">
                        <a:lnSpc>
                          <a:spcPct val="100000"/>
                        </a:lnSpc>
                        <a:spcBef>
                          <a:spcPts val="0"/>
                        </a:spcBef>
                        <a:spcAft>
                          <a:spcPts val="0"/>
                        </a:spcAft>
                        <a:buClrTx/>
                        <a:buSzTx/>
                        <a:buFontTx/>
                        <a:buNone/>
                        <a:tabLst/>
                        <a:defRPr/>
                      </a:pPr>
                      <a:r>
                        <a:rPr lang="en-US" sz="2000" smtClean="0">
                          <a:effectLst/>
                        </a:rPr>
                        <a:t>Kiểu thực thể (Entity Type)</a:t>
                      </a:r>
                    </a:p>
                  </a:txBody>
                  <a:tcPr marL="31580" marR="31580" marT="0" marB="0"/>
                </a:tc>
              </a:tr>
              <a:tr h="0">
                <a:tc>
                  <a:txBody>
                    <a:bodyPr/>
                    <a:lstStyle/>
                    <a:p>
                      <a:pPr marL="0" marR="0" lvl="0" indent="0" algn="just" defTabSz="1243401" rtl="0" eaLnBrk="1" fontAlgn="auto" latinLnBrk="0" hangingPunct="1">
                        <a:lnSpc>
                          <a:spcPct val="100000"/>
                        </a:lnSpc>
                        <a:spcBef>
                          <a:spcPts val="0"/>
                        </a:spcBef>
                        <a:spcAft>
                          <a:spcPts val="0"/>
                        </a:spcAft>
                        <a:buClrTx/>
                        <a:buSzTx/>
                        <a:buFontTx/>
                        <a:buNone/>
                        <a:tabLst/>
                        <a:defRPr/>
                      </a:pPr>
                      <a:r>
                        <a:rPr lang="en-US" sz="2000" b="0" smtClean="0">
                          <a:effectLst/>
                        </a:rPr>
                        <a:t>Đối tượng (Object)</a:t>
                      </a:r>
                    </a:p>
                  </a:txBody>
                  <a:tcPr marL="31580" marR="31580" marT="0" marB="0"/>
                </a:tc>
                <a:tc>
                  <a:txBody>
                    <a:bodyPr/>
                    <a:lstStyle/>
                    <a:p>
                      <a:pPr marL="0" marR="0" lvl="0" indent="0" algn="just" defTabSz="1243401" rtl="0" eaLnBrk="1" fontAlgn="auto" latinLnBrk="0" hangingPunct="1">
                        <a:lnSpc>
                          <a:spcPct val="100000"/>
                        </a:lnSpc>
                        <a:spcBef>
                          <a:spcPts val="0"/>
                        </a:spcBef>
                        <a:spcAft>
                          <a:spcPts val="0"/>
                        </a:spcAft>
                        <a:buClrTx/>
                        <a:buSzTx/>
                        <a:buFontTx/>
                        <a:buNone/>
                        <a:tabLst/>
                        <a:defRPr/>
                      </a:pPr>
                      <a:r>
                        <a:rPr lang="en-US" sz="2000" smtClean="0">
                          <a:effectLst/>
                        </a:rPr>
                        <a:t>Thực thể (Entity)</a:t>
                      </a:r>
                    </a:p>
                  </a:txBody>
                  <a:tcPr marL="31580" marR="31580" marT="0" marB="0"/>
                </a:tc>
              </a:tr>
              <a:tr h="0">
                <a:tc>
                  <a:txBody>
                    <a:bodyPr/>
                    <a:lstStyle/>
                    <a:p>
                      <a:pPr marL="0" marR="0" lvl="0" indent="0" algn="just" defTabSz="1243401" rtl="0" eaLnBrk="1" fontAlgn="auto" latinLnBrk="0" hangingPunct="1">
                        <a:lnSpc>
                          <a:spcPct val="100000"/>
                        </a:lnSpc>
                        <a:spcBef>
                          <a:spcPts val="0"/>
                        </a:spcBef>
                        <a:spcAft>
                          <a:spcPts val="0"/>
                        </a:spcAft>
                        <a:buClrTx/>
                        <a:buSzTx/>
                        <a:buFontTx/>
                        <a:buNone/>
                        <a:tabLst/>
                        <a:defRPr/>
                      </a:pPr>
                      <a:r>
                        <a:rPr lang="en-US" sz="2000" b="0" smtClean="0">
                          <a:effectLst/>
                        </a:rPr>
                        <a:t>Thuộc tính (Attribute)</a:t>
                      </a:r>
                    </a:p>
                  </a:txBody>
                  <a:tcPr marL="31580" marR="31580" marT="0" marB="0"/>
                </a:tc>
                <a:tc>
                  <a:txBody>
                    <a:bodyPr/>
                    <a:lstStyle/>
                    <a:p>
                      <a:pPr marL="0" marR="0" lvl="0" indent="0" algn="just" defTabSz="1243401" rtl="0" eaLnBrk="1" fontAlgn="auto" latinLnBrk="0" hangingPunct="1">
                        <a:lnSpc>
                          <a:spcPct val="100000"/>
                        </a:lnSpc>
                        <a:spcBef>
                          <a:spcPts val="0"/>
                        </a:spcBef>
                        <a:spcAft>
                          <a:spcPts val="0"/>
                        </a:spcAft>
                        <a:buClrTx/>
                        <a:buSzTx/>
                        <a:buFontTx/>
                        <a:buNone/>
                        <a:tabLst/>
                        <a:defRPr/>
                      </a:pPr>
                      <a:r>
                        <a:rPr lang="en-US" sz="2000" smtClean="0">
                          <a:effectLst/>
                        </a:rPr>
                        <a:t>Thuộc tính (Attribute) </a:t>
                      </a:r>
                    </a:p>
                  </a:txBody>
                  <a:tcPr marL="31580" marR="31580" marT="0" marB="0"/>
                </a:tc>
              </a:tr>
              <a:tr h="0">
                <a:tc>
                  <a:txBody>
                    <a:bodyPr/>
                    <a:lstStyle/>
                    <a:p>
                      <a:pPr marL="0" marR="0" lvl="0" indent="0" algn="just" defTabSz="1243401" rtl="0" eaLnBrk="1" fontAlgn="auto" latinLnBrk="0" hangingPunct="1">
                        <a:lnSpc>
                          <a:spcPct val="100000"/>
                        </a:lnSpc>
                        <a:spcBef>
                          <a:spcPts val="0"/>
                        </a:spcBef>
                        <a:spcAft>
                          <a:spcPts val="0"/>
                        </a:spcAft>
                        <a:buClrTx/>
                        <a:buSzTx/>
                        <a:buFontTx/>
                        <a:buNone/>
                        <a:tabLst/>
                        <a:defRPr/>
                      </a:pPr>
                      <a:r>
                        <a:rPr lang="en-US" sz="2000" b="0" smtClean="0">
                          <a:effectLst/>
                        </a:rPr>
                        <a:t>Miền giá trị (Domain)</a:t>
                      </a:r>
                    </a:p>
                  </a:txBody>
                  <a:tcPr marL="31580" marR="31580" marT="0" marB="0"/>
                </a:tc>
                <a:tc>
                  <a:txBody>
                    <a:bodyPr/>
                    <a:lstStyle/>
                    <a:p>
                      <a:pPr>
                        <a:lnSpc>
                          <a:spcPct val="120000"/>
                        </a:lnSpc>
                        <a:spcBef>
                          <a:spcPts val="300"/>
                        </a:spcBef>
                        <a:spcAft>
                          <a:spcPts val="300"/>
                        </a:spcAft>
                      </a:pPr>
                      <a:r>
                        <a:rPr lang="en-US" sz="2000" smtClean="0">
                          <a:effectLst/>
                        </a:rPr>
                        <a:t>Miền giá trị (Domain)</a:t>
                      </a:r>
                    </a:p>
                  </a:txBody>
                  <a:tcPr marL="31580" marR="31580" marT="0" marB="0"/>
                </a:tc>
              </a:tr>
              <a:tr h="146678">
                <a:tc>
                  <a:txBody>
                    <a:bodyPr/>
                    <a:lstStyle/>
                    <a:p>
                      <a:pPr marL="0" marR="0" lvl="0" indent="0" algn="just" defTabSz="1243401" rtl="0" eaLnBrk="1" fontAlgn="auto" latinLnBrk="0" hangingPunct="1">
                        <a:lnSpc>
                          <a:spcPct val="100000"/>
                        </a:lnSpc>
                        <a:spcBef>
                          <a:spcPts val="0"/>
                        </a:spcBef>
                        <a:spcAft>
                          <a:spcPts val="0"/>
                        </a:spcAft>
                        <a:buClrTx/>
                        <a:buSzTx/>
                        <a:buFontTx/>
                        <a:buNone/>
                        <a:tabLst/>
                        <a:defRPr/>
                      </a:pPr>
                      <a:r>
                        <a:rPr lang="en-US" sz="2000" b="0" smtClean="0">
                          <a:effectLst/>
                        </a:rPr>
                        <a:t>Miền cấu trúc (Structured Domain)</a:t>
                      </a:r>
                    </a:p>
                  </a:txBody>
                  <a:tcPr marL="31580" marR="31580" marT="0" marB="0"/>
                </a:tc>
                <a:tc>
                  <a:txBody>
                    <a:bodyPr/>
                    <a:lstStyle/>
                    <a:p>
                      <a:pPr marL="0" marR="0" lvl="0" indent="0" algn="just" defTabSz="1243401" rtl="0" eaLnBrk="1" fontAlgn="auto" latinLnBrk="0" hangingPunct="1">
                        <a:lnSpc>
                          <a:spcPct val="100000"/>
                        </a:lnSpc>
                        <a:spcBef>
                          <a:spcPts val="0"/>
                        </a:spcBef>
                        <a:spcAft>
                          <a:spcPts val="0"/>
                        </a:spcAft>
                        <a:buClrTx/>
                        <a:buSzTx/>
                        <a:buFontTx/>
                        <a:buNone/>
                        <a:tabLst/>
                        <a:defRPr/>
                      </a:pPr>
                      <a:r>
                        <a:rPr lang="en-US" sz="2000" smtClean="0">
                          <a:effectLst/>
                        </a:rPr>
                        <a:t>Thuộc tính phức hợp (Composite Attribute)</a:t>
                      </a:r>
                    </a:p>
                  </a:txBody>
                  <a:tcPr marL="31580" marR="31580" marT="0" marB="0"/>
                </a:tc>
              </a:tr>
              <a:tr h="69093">
                <a:tc>
                  <a:txBody>
                    <a:bodyPr/>
                    <a:lstStyle/>
                    <a:p>
                      <a:pPr marL="0" marR="0" lvl="0" indent="0" algn="just" defTabSz="1243401" rtl="0" eaLnBrk="1" fontAlgn="auto" latinLnBrk="0" hangingPunct="1">
                        <a:lnSpc>
                          <a:spcPct val="100000"/>
                        </a:lnSpc>
                        <a:spcBef>
                          <a:spcPts val="0"/>
                        </a:spcBef>
                        <a:spcAft>
                          <a:spcPts val="0"/>
                        </a:spcAft>
                        <a:buClrTx/>
                        <a:buSzTx/>
                        <a:buFontTx/>
                        <a:buNone/>
                        <a:tabLst/>
                        <a:defRPr/>
                      </a:pPr>
                      <a:r>
                        <a:rPr lang="en-US" sz="2000" b="0" smtClean="0">
                          <a:effectLst/>
                        </a:rPr>
                        <a:t>Toán</a:t>
                      </a:r>
                      <a:r>
                        <a:rPr lang="en-US" sz="2000" b="0" baseline="0" smtClean="0">
                          <a:effectLst/>
                        </a:rPr>
                        <a:t> tử/Hành vi </a:t>
                      </a:r>
                      <a:r>
                        <a:rPr lang="en-US" sz="2000" b="0" smtClean="0">
                          <a:effectLst/>
                        </a:rPr>
                        <a:t>(Operation)</a:t>
                      </a:r>
                    </a:p>
                  </a:txBody>
                  <a:tcPr marL="31580" marR="31580" marT="0" marB="0"/>
                </a:tc>
                <a:tc>
                  <a:txBody>
                    <a:bodyPr/>
                    <a:lstStyle/>
                    <a:p>
                      <a:pPr marL="0" marR="0" lvl="0" indent="0" algn="just" defTabSz="1243401" rtl="0" eaLnBrk="1" fontAlgn="auto" latinLnBrk="0" hangingPunct="1">
                        <a:lnSpc>
                          <a:spcPct val="100000"/>
                        </a:lnSpc>
                        <a:spcBef>
                          <a:spcPts val="0"/>
                        </a:spcBef>
                        <a:spcAft>
                          <a:spcPts val="0"/>
                        </a:spcAft>
                        <a:buClrTx/>
                        <a:buSzTx/>
                        <a:buFontTx/>
                        <a:buNone/>
                        <a:tabLst/>
                        <a:defRPr/>
                      </a:pPr>
                      <a:r>
                        <a:rPr lang="en-US" sz="2000" smtClean="0">
                          <a:effectLst/>
                        </a:rPr>
                        <a:t>-      ~ [Derived Attribute] </a:t>
                      </a:r>
                    </a:p>
                  </a:txBody>
                  <a:tcPr marL="31580" marR="31580" marT="0" marB="0"/>
                </a:tc>
              </a:tr>
              <a:tr h="0">
                <a:tc>
                  <a:txBody>
                    <a:bodyPr/>
                    <a:lstStyle/>
                    <a:p>
                      <a:pPr marL="0" marR="0" lvl="0" indent="0" algn="just" defTabSz="1243401" rtl="0" eaLnBrk="1" fontAlgn="auto" latinLnBrk="0" hangingPunct="1">
                        <a:lnSpc>
                          <a:spcPct val="100000"/>
                        </a:lnSpc>
                        <a:spcBef>
                          <a:spcPts val="0"/>
                        </a:spcBef>
                        <a:spcAft>
                          <a:spcPts val="0"/>
                        </a:spcAft>
                        <a:buClrTx/>
                        <a:buSzTx/>
                        <a:buFontTx/>
                        <a:buNone/>
                        <a:tabLst/>
                        <a:defRPr/>
                      </a:pPr>
                      <a:r>
                        <a:rPr lang="en-US" sz="2000" b="0" smtClean="0">
                          <a:effectLst/>
                        </a:rPr>
                        <a:t>Kết hợp (Association)</a:t>
                      </a:r>
                    </a:p>
                  </a:txBody>
                  <a:tcPr marL="31580" marR="31580" marT="0" marB="0"/>
                </a:tc>
                <a:tc>
                  <a:txBody>
                    <a:bodyPr/>
                    <a:lstStyle/>
                    <a:p>
                      <a:pPr marL="0" marR="0" lvl="0" indent="0" algn="just" defTabSz="1243401" rtl="0" eaLnBrk="1" fontAlgn="auto" latinLnBrk="0" hangingPunct="1">
                        <a:lnSpc>
                          <a:spcPct val="100000"/>
                        </a:lnSpc>
                        <a:spcBef>
                          <a:spcPts val="0"/>
                        </a:spcBef>
                        <a:spcAft>
                          <a:spcPts val="0"/>
                        </a:spcAft>
                        <a:buClrTx/>
                        <a:buSzTx/>
                        <a:buFontTx/>
                        <a:buNone/>
                        <a:tabLst/>
                        <a:defRPr/>
                      </a:pPr>
                      <a:r>
                        <a:rPr lang="en-US" sz="2000" smtClean="0">
                          <a:effectLst/>
                        </a:rPr>
                        <a:t>Kiểu liên kết (Relationship Type)</a:t>
                      </a:r>
                    </a:p>
                  </a:txBody>
                  <a:tcPr marL="31580" marR="31580" marT="0" marB="0"/>
                </a:tc>
              </a:tr>
              <a:tr h="92052">
                <a:tc>
                  <a:txBody>
                    <a:bodyPr/>
                    <a:lstStyle/>
                    <a:p>
                      <a:pPr marL="0" marR="0" lvl="0" indent="0" algn="just" defTabSz="1243401" rtl="0" eaLnBrk="1" fontAlgn="auto" latinLnBrk="0" hangingPunct="1">
                        <a:lnSpc>
                          <a:spcPct val="100000"/>
                        </a:lnSpc>
                        <a:spcBef>
                          <a:spcPts val="0"/>
                        </a:spcBef>
                        <a:spcAft>
                          <a:spcPts val="0"/>
                        </a:spcAft>
                        <a:buClrTx/>
                        <a:buSzTx/>
                        <a:buFontTx/>
                        <a:buNone/>
                        <a:tabLst/>
                        <a:defRPr/>
                      </a:pPr>
                      <a:r>
                        <a:rPr lang="en-US" sz="2000" b="0" smtClean="0">
                          <a:effectLst/>
                        </a:rPr>
                        <a:t>Liên kết (Link) </a:t>
                      </a:r>
                    </a:p>
                  </a:txBody>
                  <a:tcPr marL="31580" marR="31580" marT="0" marB="0"/>
                </a:tc>
                <a:tc>
                  <a:txBody>
                    <a:bodyPr/>
                    <a:lstStyle/>
                    <a:p>
                      <a:pPr marL="0" marR="0" lvl="0" indent="0" algn="just" defTabSz="1243401" rtl="0" eaLnBrk="1" fontAlgn="auto" latinLnBrk="0" hangingPunct="1">
                        <a:lnSpc>
                          <a:spcPct val="100000"/>
                        </a:lnSpc>
                        <a:spcBef>
                          <a:spcPts val="0"/>
                        </a:spcBef>
                        <a:spcAft>
                          <a:spcPts val="0"/>
                        </a:spcAft>
                        <a:buClrTx/>
                        <a:buSzTx/>
                        <a:buFontTx/>
                        <a:buNone/>
                        <a:tabLst/>
                        <a:defRPr/>
                      </a:pPr>
                      <a:r>
                        <a:rPr lang="en-US" sz="2000" smtClean="0">
                          <a:effectLst/>
                        </a:rPr>
                        <a:t>Thể liên kết (Relationship Instance)</a:t>
                      </a:r>
                    </a:p>
                  </a:txBody>
                  <a:tcPr marL="31580" marR="31580" marT="0" marB="0"/>
                </a:tc>
              </a:tr>
              <a:tr h="121344">
                <a:tc>
                  <a:txBody>
                    <a:bodyPr/>
                    <a:lstStyle/>
                    <a:p>
                      <a:pPr marL="0" marR="0" lvl="0" indent="0" algn="just" defTabSz="1243401" rtl="0" eaLnBrk="1" fontAlgn="auto" latinLnBrk="0" hangingPunct="1">
                        <a:lnSpc>
                          <a:spcPct val="100000"/>
                        </a:lnSpc>
                        <a:spcBef>
                          <a:spcPts val="0"/>
                        </a:spcBef>
                        <a:spcAft>
                          <a:spcPts val="0"/>
                        </a:spcAft>
                        <a:buClrTx/>
                        <a:buSzTx/>
                        <a:buFontTx/>
                        <a:buNone/>
                        <a:tabLst/>
                        <a:defRPr/>
                      </a:pPr>
                      <a:r>
                        <a:rPr lang="en-US" sz="2000" b="0" smtClean="0">
                          <a:effectLst/>
                        </a:rPr>
                        <a:t>Bản số (Multiplicities)</a:t>
                      </a:r>
                    </a:p>
                  </a:txBody>
                  <a:tcPr marL="31580" marR="31580" marT="0" marB="0"/>
                </a:tc>
                <a:tc>
                  <a:txBody>
                    <a:bodyPr/>
                    <a:lstStyle/>
                    <a:p>
                      <a:pPr marL="0" marR="0" lvl="0" indent="0" algn="just" defTabSz="1243401" rtl="0" eaLnBrk="1" fontAlgn="auto" latinLnBrk="0" hangingPunct="1">
                        <a:lnSpc>
                          <a:spcPct val="100000"/>
                        </a:lnSpc>
                        <a:spcBef>
                          <a:spcPts val="0"/>
                        </a:spcBef>
                        <a:spcAft>
                          <a:spcPts val="0"/>
                        </a:spcAft>
                        <a:buClrTx/>
                        <a:buSzTx/>
                        <a:buFontTx/>
                        <a:buNone/>
                        <a:tabLst/>
                        <a:defRPr/>
                      </a:pPr>
                      <a:r>
                        <a:rPr lang="en-US" sz="2000" smtClean="0">
                          <a:effectLst/>
                        </a:rPr>
                        <a:t>Tỷ số lực lượng (Cardinality &amp; Participation) </a:t>
                      </a:r>
                    </a:p>
                  </a:txBody>
                  <a:tcPr marL="31580" marR="31580" marT="0" marB="0"/>
                </a:tc>
              </a:tr>
              <a:tr h="162512">
                <a:tc>
                  <a:txBody>
                    <a:bodyPr/>
                    <a:lstStyle/>
                    <a:p>
                      <a:pPr marL="0" marR="0" lvl="0" indent="0" algn="just" defTabSz="1243401" rtl="0" eaLnBrk="1" fontAlgn="auto" latinLnBrk="0" hangingPunct="1">
                        <a:lnSpc>
                          <a:spcPct val="100000"/>
                        </a:lnSpc>
                        <a:spcBef>
                          <a:spcPts val="0"/>
                        </a:spcBef>
                        <a:spcAft>
                          <a:spcPts val="0"/>
                        </a:spcAft>
                        <a:buClrTx/>
                        <a:buSzTx/>
                        <a:buFontTx/>
                        <a:buNone/>
                        <a:tabLst/>
                        <a:defRPr/>
                      </a:pPr>
                      <a:r>
                        <a:rPr lang="en-US" sz="2000" b="0" smtClean="0">
                          <a:effectLst/>
                        </a:rPr>
                        <a:t>Kết tập (Aggregation)</a:t>
                      </a:r>
                      <a:endParaRPr lang="en-US" sz="2000" b="0" smtClean="0">
                        <a:effectLst/>
                        <a:latin typeface="Times New Roman" panose="02020603050405020304" pitchFamily="18" charset="0"/>
                        <a:ea typeface="Calibri" panose="020F0502020204030204" pitchFamily="34" charset="0"/>
                        <a:cs typeface="Times New Roman" panose="02020603050405020304" pitchFamily="18" charset="0"/>
                      </a:endParaRPr>
                    </a:p>
                  </a:txBody>
                  <a:tcPr marL="31580" marR="31580" marT="0" marB="0"/>
                </a:tc>
                <a:tc>
                  <a:txBody>
                    <a:bodyPr/>
                    <a:lstStyle/>
                    <a:p>
                      <a:pPr marL="0" marR="0" lvl="0" indent="0" algn="just" defTabSz="1243401" rtl="0" eaLnBrk="1" fontAlgn="auto" latinLnBrk="0" hangingPunct="1">
                        <a:lnSpc>
                          <a:spcPct val="100000"/>
                        </a:lnSpc>
                        <a:spcBef>
                          <a:spcPts val="0"/>
                        </a:spcBef>
                        <a:spcAft>
                          <a:spcPts val="0"/>
                        </a:spcAft>
                        <a:buClrTx/>
                        <a:buSzTx/>
                        <a:buFontTx/>
                        <a:buNone/>
                        <a:tabLst/>
                        <a:defRPr/>
                      </a:pPr>
                      <a:r>
                        <a:rPr lang="en-US" sz="2000" smtClean="0">
                          <a:effectLst/>
                        </a:rPr>
                        <a:t>Thực thể yếu (Weak entities)</a:t>
                      </a:r>
                      <a:endParaRPr lang="en-US" sz="2000" smtClean="0">
                        <a:effectLst/>
                        <a:latin typeface="Times New Roman" panose="02020603050405020304" pitchFamily="18" charset="0"/>
                        <a:ea typeface="Calibri" panose="020F0502020204030204" pitchFamily="34" charset="0"/>
                        <a:cs typeface="Times New Roman" panose="02020603050405020304" pitchFamily="18" charset="0"/>
                      </a:endParaRPr>
                    </a:p>
                  </a:txBody>
                  <a:tcPr marL="31580" marR="31580" marT="0" marB="0"/>
                </a:tc>
              </a:tr>
            </a:tbl>
          </a:graphicData>
        </a:graphic>
      </p:graphicFrame>
      <p:sp>
        <p:nvSpPr>
          <p:cNvPr id="4" name="Footer Placeholder 3"/>
          <p:cNvSpPr>
            <a:spLocks noGrp="1"/>
          </p:cNvSpPr>
          <p:nvPr>
            <p:ph type="ftr" sz="quarter" idx="10"/>
          </p:nvPr>
        </p:nvSpPr>
        <p:spPr/>
        <p:txBody>
          <a:bodyPr/>
          <a:lstStyle/>
          <a:p>
            <a:r>
              <a:rPr lang="vi-VN" smtClean="0"/>
              <a:t>Phần: Mô hình lớp UML và Mô hình quan hệ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4</a:t>
            </a:fld>
            <a:endParaRPr lang="en-US" dirty="0"/>
          </a:p>
        </p:txBody>
      </p:sp>
    </p:spTree>
    <p:extLst>
      <p:ext uri="{BB962C8B-B14F-4D97-AF65-F5344CB8AC3E}">
        <p14:creationId xmlns:p14="http://schemas.microsoft.com/office/powerpoint/2010/main" val="1477394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Các ký hiệu </a:t>
            </a:r>
            <a:r>
              <a:rPr lang="vi-VN" smtClean="0"/>
              <a:t>tương </a:t>
            </a:r>
            <a:r>
              <a:rPr lang="vi-VN"/>
              <a:t>ứng với EER</a:t>
            </a:r>
            <a:endParaRPr lang="en-US"/>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4046709920"/>
              </p:ext>
            </p:extLst>
          </p:nvPr>
        </p:nvGraphicFramePr>
        <p:xfrm>
          <a:off x="422030" y="756920"/>
          <a:ext cx="8299940" cy="4328160"/>
        </p:xfrm>
        <a:graphic>
          <a:graphicData uri="http://schemas.openxmlformats.org/drawingml/2006/table">
            <a:tbl>
              <a:tblPr firstRow="1" firstCol="1" bandRow="1">
                <a:tableStyleId>{5DA37D80-6434-44D0-A028-1B22A696006F}</a:tableStyleId>
              </a:tblPr>
              <a:tblGrid>
                <a:gridCol w="4090593"/>
                <a:gridCol w="4209347"/>
              </a:tblGrid>
              <a:tr h="312665">
                <a:tc>
                  <a:txBody>
                    <a:bodyPr/>
                    <a:lstStyle/>
                    <a:p>
                      <a:pPr algn="ctr">
                        <a:lnSpc>
                          <a:spcPct val="100000"/>
                        </a:lnSpc>
                        <a:spcBef>
                          <a:spcPts val="0"/>
                        </a:spcBef>
                        <a:spcAft>
                          <a:spcPts val="0"/>
                        </a:spcAft>
                      </a:pPr>
                      <a:r>
                        <a:rPr lang="en-US" sz="2400">
                          <a:effectLst/>
                        </a:rPr>
                        <a:t>UML</a:t>
                      </a:r>
                      <a:endParaRPr lang="en-US" sz="2400" b="0">
                        <a:effectLst/>
                        <a:latin typeface="Times New Roman" panose="02020603050405020304" pitchFamily="18" charset="0"/>
                        <a:ea typeface="Calibri" panose="020F0502020204030204" pitchFamily="34" charset="0"/>
                        <a:cs typeface="Times New Roman" panose="02020603050405020304" pitchFamily="18" charset="0"/>
                      </a:endParaRPr>
                    </a:p>
                  </a:txBody>
                  <a:tcPr marL="31580" marR="31580" marT="0" marB="0"/>
                </a:tc>
                <a:tc>
                  <a:txBody>
                    <a:bodyPr/>
                    <a:lstStyle/>
                    <a:p>
                      <a:pPr algn="ctr">
                        <a:lnSpc>
                          <a:spcPct val="100000"/>
                        </a:lnSpc>
                        <a:spcBef>
                          <a:spcPts val="0"/>
                        </a:spcBef>
                        <a:spcAft>
                          <a:spcPts val="0"/>
                        </a:spcAft>
                      </a:pPr>
                      <a:r>
                        <a:rPr lang="en-US" sz="2400">
                          <a:effectLst/>
                        </a:rPr>
                        <a:t>EER</a:t>
                      </a:r>
                      <a:endParaRPr lang="en-US" sz="2400" b="0">
                        <a:effectLst/>
                        <a:latin typeface="Times New Roman" panose="02020603050405020304" pitchFamily="18" charset="0"/>
                        <a:ea typeface="Calibri" panose="020F0502020204030204" pitchFamily="34" charset="0"/>
                        <a:cs typeface="Times New Roman" panose="02020603050405020304" pitchFamily="18" charset="0"/>
                      </a:endParaRPr>
                    </a:p>
                  </a:txBody>
                  <a:tcPr marL="31580" marR="31580" marT="0" marB="0"/>
                </a:tc>
              </a:tr>
              <a:tr h="83343">
                <a:tc>
                  <a:txBody>
                    <a:bodyPr/>
                    <a:lstStyle/>
                    <a:p>
                      <a:r>
                        <a:rPr lang="en-US" sz="2000" b="0" kern="1200" smtClean="0">
                          <a:solidFill>
                            <a:schemeClr val="tx1"/>
                          </a:solidFill>
                          <a:effectLst/>
                          <a:latin typeface="+mn-lt"/>
                          <a:ea typeface="+mn-ea"/>
                          <a:cs typeface="+mn-cs"/>
                        </a:rPr>
                        <a:t>UML hiển thị lớp bằng hình chữ nhật có 3 phần: </a:t>
                      </a:r>
                    </a:p>
                    <a:p>
                      <a:pPr marL="342900" indent="-342900">
                        <a:buFont typeface="Wingdings" panose="05000000000000000000" pitchFamily="2" charset="2"/>
                        <a:buChar char="§"/>
                      </a:pPr>
                      <a:r>
                        <a:rPr lang="en-US" sz="2000" b="0" kern="1200" smtClean="0">
                          <a:solidFill>
                            <a:schemeClr val="tx1"/>
                          </a:solidFill>
                          <a:effectLst/>
                          <a:latin typeface="+mn-lt"/>
                          <a:ea typeface="+mn-ea"/>
                          <a:cs typeface="+mn-cs"/>
                        </a:rPr>
                        <a:t>Phần trên cùng: Tên lớp</a:t>
                      </a:r>
                    </a:p>
                    <a:p>
                      <a:pPr marL="342900" indent="-342900">
                        <a:buFont typeface="Wingdings" panose="05000000000000000000" pitchFamily="2" charset="2"/>
                        <a:buChar char="§"/>
                      </a:pPr>
                      <a:r>
                        <a:rPr lang="en-US" sz="2000" b="0" kern="1200" smtClean="0">
                          <a:solidFill>
                            <a:schemeClr val="tx1"/>
                          </a:solidFill>
                          <a:effectLst/>
                          <a:latin typeface="+mn-lt"/>
                          <a:ea typeface="+mn-ea"/>
                          <a:cs typeface="+mn-cs"/>
                        </a:rPr>
                        <a:t>Phần giữa: Thuộc tính</a:t>
                      </a:r>
                    </a:p>
                    <a:p>
                      <a:pPr marL="342900" indent="-342900">
                        <a:buFont typeface="Wingdings" panose="05000000000000000000" pitchFamily="2" charset="2"/>
                        <a:buChar char="§"/>
                      </a:pPr>
                      <a:r>
                        <a:rPr lang="en-US" sz="2000" b="0" kern="1200" smtClean="0">
                          <a:solidFill>
                            <a:schemeClr val="tx1"/>
                          </a:solidFill>
                          <a:effectLst/>
                          <a:latin typeface="+mn-lt"/>
                          <a:ea typeface="+mn-ea"/>
                          <a:cs typeface="+mn-cs"/>
                        </a:rPr>
                        <a:t>Phần dưới cùng: Hành</a:t>
                      </a:r>
                      <a:r>
                        <a:rPr lang="en-US" sz="2000" b="0" kern="1200" baseline="0" smtClean="0">
                          <a:solidFill>
                            <a:schemeClr val="tx1"/>
                          </a:solidFill>
                          <a:effectLst/>
                          <a:latin typeface="+mn-lt"/>
                          <a:ea typeface="+mn-ea"/>
                          <a:cs typeface="+mn-cs"/>
                        </a:rPr>
                        <a:t> vi/Phương thức</a:t>
                      </a:r>
                      <a:endParaRPr lang="en-US" sz="2000" b="0" smtClean="0">
                        <a:effectLst/>
                      </a:endParaRPr>
                    </a:p>
                  </a:txBody>
                  <a:tcPr marL="31580" marR="31580" marT="0" marB="0"/>
                </a:tc>
                <a:tc>
                  <a:txBody>
                    <a:bodyPr/>
                    <a:lstStyle/>
                    <a:p>
                      <a:r>
                        <a:rPr lang="en-US" sz="2000" b="0" kern="1200" smtClean="0">
                          <a:solidFill>
                            <a:schemeClr val="tx1"/>
                          </a:solidFill>
                          <a:effectLst/>
                          <a:latin typeface="+mn-lt"/>
                          <a:ea typeface="+mn-ea"/>
                          <a:cs typeface="+mn-cs"/>
                        </a:rPr>
                        <a:t>Kiểu thực thể hiển thị bởi hình chữ nhật</a:t>
                      </a:r>
                    </a:p>
                    <a:p>
                      <a:pPr marL="342900" indent="-342900">
                        <a:buFont typeface="Wingdings" panose="05000000000000000000" pitchFamily="2" charset="2"/>
                        <a:buChar char="§"/>
                      </a:pPr>
                      <a:r>
                        <a:rPr lang="en-US" sz="2000" b="0" kern="1200" smtClean="0">
                          <a:solidFill>
                            <a:schemeClr val="tx1"/>
                          </a:solidFill>
                          <a:effectLst/>
                          <a:latin typeface="+mn-lt"/>
                          <a:ea typeface="+mn-ea"/>
                          <a:cs typeface="+mn-cs"/>
                        </a:rPr>
                        <a:t>Tên kiểu thực thể</a:t>
                      </a:r>
                    </a:p>
                    <a:p>
                      <a:pPr marL="342900" indent="-342900">
                        <a:buFont typeface="Wingdings" panose="05000000000000000000" pitchFamily="2" charset="2"/>
                        <a:buChar char="§"/>
                      </a:pPr>
                      <a:r>
                        <a:rPr lang="en-US" sz="2000" b="0" kern="1200" smtClean="0">
                          <a:solidFill>
                            <a:schemeClr val="tx1"/>
                          </a:solidFill>
                          <a:effectLst/>
                          <a:latin typeface="+mn-lt"/>
                          <a:ea typeface="+mn-ea"/>
                          <a:cs typeface="+mn-cs"/>
                        </a:rPr>
                        <a:t>Thuộc tính được hiển thị bởi hình elipse</a:t>
                      </a:r>
                    </a:p>
                    <a:p>
                      <a:pPr marL="342900" indent="-342900">
                        <a:buFont typeface="Wingdings" panose="05000000000000000000" pitchFamily="2" charset="2"/>
                        <a:buChar char="§"/>
                      </a:pPr>
                      <a:r>
                        <a:rPr lang="en-US" sz="2000" b="0" kern="1200" smtClean="0">
                          <a:solidFill>
                            <a:schemeClr val="tx1"/>
                          </a:solidFill>
                          <a:effectLst/>
                          <a:latin typeface="+mn-lt"/>
                          <a:ea typeface="+mn-ea"/>
                          <a:cs typeface="+mn-cs"/>
                        </a:rPr>
                        <a:t>Các hành</a:t>
                      </a:r>
                      <a:r>
                        <a:rPr lang="en-US" sz="2000" b="0" kern="1200" baseline="0" smtClean="0">
                          <a:solidFill>
                            <a:schemeClr val="tx1"/>
                          </a:solidFill>
                          <a:effectLst/>
                          <a:latin typeface="+mn-lt"/>
                          <a:ea typeface="+mn-ea"/>
                          <a:cs typeface="+mn-cs"/>
                        </a:rPr>
                        <a:t> vi/phương thức </a:t>
                      </a:r>
                      <a:r>
                        <a:rPr lang="en-US" sz="2000" b="0" kern="1200" smtClean="0">
                          <a:solidFill>
                            <a:schemeClr val="tx1"/>
                          </a:solidFill>
                          <a:effectLst/>
                          <a:latin typeface="+mn-lt"/>
                          <a:ea typeface="+mn-ea"/>
                          <a:cs typeface="+mn-cs"/>
                        </a:rPr>
                        <a:t>không được hỗ trợ trong mô hình EER</a:t>
                      </a:r>
                      <a:endParaRPr lang="en-US" sz="2000" b="0" u="sng" smtClean="0">
                        <a:effectLst/>
                      </a:endParaRPr>
                    </a:p>
                  </a:txBody>
                  <a:tcPr marL="31580" marR="31580" marT="0" marB="0"/>
                </a:tc>
              </a:tr>
              <a:tr h="189895">
                <a:tc>
                  <a:txBody>
                    <a:bodyPr/>
                    <a:lstStyle/>
                    <a:p>
                      <a:r>
                        <a:rPr lang="en-US" sz="2000" b="0" kern="1200" smtClean="0">
                          <a:solidFill>
                            <a:schemeClr val="tx1"/>
                          </a:solidFill>
                          <a:effectLst/>
                          <a:latin typeface="+mn-lt"/>
                          <a:ea typeface="+mn-ea"/>
                          <a:cs typeface="+mn-cs"/>
                        </a:rPr>
                        <a:t>Thuộc tính:</a:t>
                      </a:r>
                    </a:p>
                    <a:p>
                      <a:pPr marL="342900" indent="-342900">
                        <a:buFont typeface="Wingdings" panose="05000000000000000000" pitchFamily="2" charset="2"/>
                        <a:buChar char="§"/>
                      </a:pPr>
                      <a:r>
                        <a:rPr lang="en-US" sz="2000" b="0" kern="1200" smtClean="0">
                          <a:solidFill>
                            <a:schemeClr val="tx1"/>
                          </a:solidFill>
                          <a:effectLst/>
                          <a:latin typeface="+mn-lt"/>
                          <a:ea typeface="+mn-ea"/>
                          <a:cs typeface="+mn-cs"/>
                        </a:rPr>
                        <a:t>Thuộc tính phức hợp được mô hình hóa bởi sự lùi vào ở đầu dòng.</a:t>
                      </a:r>
                    </a:p>
                    <a:p>
                      <a:pPr marL="342900" indent="-342900">
                        <a:buFont typeface="Wingdings" panose="05000000000000000000" pitchFamily="2" charset="2"/>
                        <a:buChar char="§"/>
                      </a:pPr>
                      <a:r>
                        <a:rPr lang="en-US" sz="2000" b="0" kern="1200" smtClean="0">
                          <a:solidFill>
                            <a:schemeClr val="tx1"/>
                          </a:solidFill>
                          <a:effectLst/>
                          <a:latin typeface="+mn-lt"/>
                          <a:ea typeface="+mn-ea"/>
                          <a:cs typeface="+mn-cs"/>
                        </a:rPr>
                        <a:t>Miền giá trị gán cùng với thuộc tính</a:t>
                      </a:r>
                      <a:endParaRPr lang="en-US" sz="2000" b="0" smtClean="0"/>
                    </a:p>
                  </a:txBody>
                  <a:tcPr marL="31580" marR="31580" marT="0" marB="0"/>
                </a:tc>
                <a:tc>
                  <a:txBody>
                    <a:bodyPr/>
                    <a:lstStyle/>
                    <a:p>
                      <a:pPr marL="0" marR="0" lvl="0" indent="0" algn="just" defTabSz="1243401" rtl="0" eaLnBrk="1" fontAlgn="auto" latinLnBrk="0" hangingPunct="1">
                        <a:lnSpc>
                          <a:spcPct val="100000"/>
                        </a:lnSpc>
                        <a:spcBef>
                          <a:spcPts val="0"/>
                        </a:spcBef>
                        <a:spcAft>
                          <a:spcPts val="0"/>
                        </a:spcAft>
                        <a:buClrTx/>
                        <a:buSzTx/>
                        <a:buFontTx/>
                        <a:buNone/>
                        <a:tabLst/>
                        <a:defRPr/>
                      </a:pPr>
                      <a:r>
                        <a:rPr lang="en-US" sz="2000" b="0" smtClean="0">
                          <a:effectLst/>
                        </a:rPr>
                        <a:t>Thuộc</a:t>
                      </a:r>
                      <a:r>
                        <a:rPr lang="en-US" sz="2000" b="0" baseline="0" smtClean="0">
                          <a:effectLst/>
                        </a:rPr>
                        <a:t> tính:</a:t>
                      </a:r>
                      <a:endParaRPr lang="en-US" sz="2000" b="0" smtClean="0">
                        <a:effectLst/>
                      </a:endParaRPr>
                    </a:p>
                    <a:p>
                      <a:pPr marL="342900" indent="-342900">
                        <a:buFont typeface="Wingdings" panose="05000000000000000000" pitchFamily="2" charset="2"/>
                        <a:buChar char="§"/>
                      </a:pPr>
                      <a:r>
                        <a:rPr lang="en-US" sz="2000" b="0" kern="1200" smtClean="0">
                          <a:solidFill>
                            <a:schemeClr val="tx1"/>
                          </a:solidFill>
                          <a:effectLst/>
                          <a:latin typeface="+mn-lt"/>
                          <a:ea typeface="+mn-ea"/>
                          <a:cs typeface="+mn-cs"/>
                        </a:rPr>
                        <a:t>Thuộc tính phức hợp được mô hình hóa bởi các hình elip.</a:t>
                      </a:r>
                    </a:p>
                    <a:p>
                      <a:pPr marL="342900" indent="-342900">
                        <a:buFont typeface="Wingdings" panose="05000000000000000000" pitchFamily="2" charset="2"/>
                        <a:buChar char="§"/>
                      </a:pPr>
                      <a:r>
                        <a:rPr lang="en-US" sz="2000" b="0" kern="1200" smtClean="0">
                          <a:solidFill>
                            <a:schemeClr val="tx1"/>
                          </a:solidFill>
                          <a:effectLst/>
                          <a:latin typeface="+mn-lt"/>
                          <a:ea typeface="+mn-ea"/>
                          <a:cs typeface="+mn-cs"/>
                        </a:rPr>
                        <a:t>Miền giá trị được chỉ</a:t>
                      </a:r>
                      <a:r>
                        <a:rPr lang="en-US" sz="2000" b="0" kern="1200" baseline="0" smtClean="0">
                          <a:solidFill>
                            <a:schemeClr val="tx1"/>
                          </a:solidFill>
                          <a:effectLst/>
                          <a:latin typeface="+mn-lt"/>
                          <a:ea typeface="+mn-ea"/>
                          <a:cs typeface="+mn-cs"/>
                        </a:rPr>
                        <a:t> ra </a:t>
                      </a:r>
                      <a:r>
                        <a:rPr lang="en-US" sz="2000" b="0" kern="1200" smtClean="0">
                          <a:solidFill>
                            <a:schemeClr val="tx1"/>
                          </a:solidFill>
                          <a:effectLst/>
                          <a:latin typeface="+mn-lt"/>
                          <a:ea typeface="+mn-ea"/>
                          <a:cs typeface="+mn-cs"/>
                        </a:rPr>
                        <a:t>riêng.</a:t>
                      </a:r>
                      <a:endParaRPr lang="en-US" sz="2000" b="0" smtClean="0">
                        <a:effectLst/>
                      </a:endParaRPr>
                    </a:p>
                  </a:txBody>
                  <a:tcPr marL="31580" marR="31580" marT="0" marB="0"/>
                </a:tc>
              </a:tr>
              <a:tr h="189895">
                <a:tc>
                  <a:txBody>
                    <a:bodyPr/>
                    <a:lstStyle/>
                    <a:p>
                      <a:r>
                        <a:rPr lang="en-US" sz="2000" b="0" kern="1200" smtClean="0">
                          <a:solidFill>
                            <a:schemeClr val="tx1"/>
                          </a:solidFill>
                          <a:effectLst/>
                          <a:latin typeface="+mn-lt"/>
                          <a:ea typeface="+mn-ea"/>
                          <a:cs typeface="+mn-cs"/>
                        </a:rPr>
                        <a:t>Bản số và lực lượng:</a:t>
                      </a:r>
                    </a:p>
                    <a:p>
                      <a:pPr marL="342900" indent="-342900">
                        <a:buFont typeface="Wingdings" panose="05000000000000000000" pitchFamily="2" charset="2"/>
                        <a:buChar char="§"/>
                      </a:pPr>
                      <a:r>
                        <a:rPr lang="en-US" sz="2000" b="0" kern="1200" smtClean="0">
                          <a:solidFill>
                            <a:schemeClr val="tx1"/>
                          </a:solidFill>
                          <a:effectLst/>
                          <a:latin typeface="+mn-lt"/>
                          <a:ea typeface="+mn-ea"/>
                          <a:cs typeface="+mn-cs"/>
                        </a:rPr>
                        <a:t>0..*</a:t>
                      </a:r>
                    </a:p>
                    <a:p>
                      <a:pPr marL="342900" indent="-342900">
                        <a:buFont typeface="Wingdings" panose="05000000000000000000" pitchFamily="2" charset="2"/>
                        <a:buChar char="§"/>
                      </a:pPr>
                      <a:r>
                        <a:rPr lang="en-US" sz="2000" b="0" kern="1200" smtClean="0">
                          <a:solidFill>
                            <a:schemeClr val="tx1"/>
                          </a:solidFill>
                          <a:effectLst/>
                          <a:latin typeface="+mn-lt"/>
                          <a:ea typeface="+mn-ea"/>
                          <a:cs typeface="+mn-cs"/>
                        </a:rPr>
                        <a:t>1 hoặc 1..1</a:t>
                      </a:r>
                      <a:endParaRPr lang="en-US" sz="2000" b="0" smtClean="0"/>
                    </a:p>
                  </a:txBody>
                  <a:tcPr marL="31580" marR="31580" marT="0" marB="0"/>
                </a:tc>
                <a:tc>
                  <a:txBody>
                    <a:bodyPr/>
                    <a:lstStyle/>
                    <a:p>
                      <a:r>
                        <a:rPr lang="en-US" sz="2000" b="0" kern="1200" smtClean="0">
                          <a:solidFill>
                            <a:schemeClr val="tx1"/>
                          </a:solidFill>
                          <a:effectLst/>
                          <a:latin typeface="+mn-lt"/>
                          <a:ea typeface="+mn-ea"/>
                          <a:cs typeface="+mn-cs"/>
                        </a:rPr>
                        <a:t>Bản số và lực lượng:</a:t>
                      </a:r>
                    </a:p>
                    <a:p>
                      <a:pPr marL="342900" indent="-342900">
                        <a:buFont typeface="Wingdings" panose="05000000000000000000" pitchFamily="2" charset="2"/>
                        <a:buChar char="§"/>
                      </a:pPr>
                      <a:r>
                        <a:rPr lang="en-US" sz="2000" b="0" kern="1200" smtClean="0">
                          <a:solidFill>
                            <a:schemeClr val="tx1"/>
                          </a:solidFill>
                          <a:effectLst/>
                          <a:latin typeface="+mn-lt"/>
                          <a:ea typeface="+mn-ea"/>
                          <a:cs typeface="+mn-cs"/>
                        </a:rPr>
                        <a:t>0,N</a:t>
                      </a:r>
                    </a:p>
                    <a:p>
                      <a:pPr marL="342900" indent="-342900">
                        <a:buFont typeface="Wingdings" panose="05000000000000000000" pitchFamily="2" charset="2"/>
                        <a:buChar char="§"/>
                      </a:pPr>
                      <a:r>
                        <a:rPr lang="en-US" sz="2000" b="0" kern="1200" smtClean="0">
                          <a:solidFill>
                            <a:schemeClr val="tx1"/>
                          </a:solidFill>
                          <a:effectLst/>
                          <a:latin typeface="+mn-lt"/>
                          <a:ea typeface="+mn-ea"/>
                          <a:cs typeface="+mn-cs"/>
                        </a:rPr>
                        <a:t>1,1</a:t>
                      </a:r>
                      <a:endParaRPr lang="en-US" sz="2000" b="0" smtClean="0">
                        <a:effectLst/>
                      </a:endParaRPr>
                    </a:p>
                  </a:txBody>
                  <a:tcPr marL="31580" marR="31580" marT="0" marB="0"/>
                </a:tc>
              </a:tr>
            </a:tbl>
          </a:graphicData>
        </a:graphic>
      </p:graphicFrame>
      <p:sp>
        <p:nvSpPr>
          <p:cNvPr id="4" name="Footer Placeholder 3"/>
          <p:cNvSpPr>
            <a:spLocks noGrp="1"/>
          </p:cNvSpPr>
          <p:nvPr>
            <p:ph type="ftr" sz="quarter" idx="10"/>
          </p:nvPr>
        </p:nvSpPr>
        <p:spPr/>
        <p:txBody>
          <a:bodyPr/>
          <a:lstStyle/>
          <a:p>
            <a:r>
              <a:rPr lang="vi-VN" smtClean="0"/>
              <a:t>Phần: Mô hình lớp UML và Mô hình quan hệ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5</a:t>
            </a:fld>
            <a:endParaRPr lang="en-US" dirty="0"/>
          </a:p>
        </p:txBody>
      </p:sp>
    </p:spTree>
    <p:extLst>
      <p:ext uri="{BB962C8B-B14F-4D97-AF65-F5344CB8AC3E}">
        <p14:creationId xmlns:p14="http://schemas.microsoft.com/office/powerpoint/2010/main" val="947908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Chuyển từ mô hình lớp sang EER</a:t>
            </a:r>
            <a:endParaRPr lang="en-US"/>
          </a:p>
        </p:txBody>
      </p:sp>
      <p:sp>
        <p:nvSpPr>
          <p:cNvPr id="3" name="Content Placeholder 2"/>
          <p:cNvSpPr>
            <a:spLocks noGrp="1"/>
          </p:cNvSpPr>
          <p:nvPr>
            <p:ph idx="1"/>
          </p:nvPr>
        </p:nvSpPr>
        <p:spPr/>
        <p:txBody>
          <a:bodyPr/>
          <a:lstStyle/>
          <a:p>
            <a:pPr marL="0" indent="0">
              <a:buNone/>
            </a:pPr>
            <a:r>
              <a:rPr lang="vi-VN" b="1" dirty="0"/>
              <a:t>Các bước chuyển đổi</a:t>
            </a:r>
            <a:endParaRPr lang="vi-VN" dirty="0"/>
          </a:p>
          <a:p>
            <a:pPr lvl="0"/>
            <a:r>
              <a:rPr lang="vi-VN" dirty="0"/>
              <a:t>Bước 1: Mỗi lớp trong biểu đồ lớp ta tạo ra 1 kiểu thực thể tương </a:t>
            </a:r>
            <a:r>
              <a:rPr lang="vi-VN" dirty="0" smtClean="0"/>
              <a:t>ứng</a:t>
            </a:r>
            <a:r>
              <a:rPr lang="en-US" dirty="0"/>
              <a:t>.</a:t>
            </a:r>
            <a:endParaRPr lang="vi-VN" dirty="0"/>
          </a:p>
          <a:p>
            <a:pPr lvl="1"/>
            <a:r>
              <a:rPr lang="vi-VN" dirty="0" smtClean="0"/>
              <a:t>Các </a:t>
            </a:r>
            <a:r>
              <a:rPr lang="vi-VN" dirty="0"/>
              <a:t>thuộc tính của lớp được chuyển thành các thuộc tính của kiểu thực thể.</a:t>
            </a:r>
          </a:p>
          <a:p>
            <a:pPr lvl="1"/>
            <a:r>
              <a:rPr lang="vi-VN" dirty="0" smtClean="0"/>
              <a:t>Thuộc </a:t>
            </a:r>
            <a:r>
              <a:rPr lang="vi-VN" dirty="0"/>
              <a:t>tính định danh sử dụng để làm thuộc tính khoá</a:t>
            </a:r>
            <a:r>
              <a:rPr lang="vi-VN" dirty="0" smtClean="0"/>
              <a:t>.</a:t>
            </a:r>
            <a:endParaRPr lang="vi-VN" dirty="0"/>
          </a:p>
        </p:txBody>
      </p:sp>
      <p:sp>
        <p:nvSpPr>
          <p:cNvPr id="4" name="Footer Placeholder 3"/>
          <p:cNvSpPr>
            <a:spLocks noGrp="1"/>
          </p:cNvSpPr>
          <p:nvPr>
            <p:ph type="ftr" sz="quarter" idx="10"/>
          </p:nvPr>
        </p:nvSpPr>
        <p:spPr/>
        <p:txBody>
          <a:bodyPr/>
          <a:lstStyle/>
          <a:p>
            <a:r>
              <a:rPr lang="vi-VN" smtClean="0"/>
              <a:t>Phần: Mô hình lớp UML và Mô hình quan hệ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6</a:t>
            </a:fld>
            <a:endParaRPr lang="en-US" dirty="0"/>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3077" y="3416443"/>
            <a:ext cx="7611307" cy="1583068"/>
          </a:xfrm>
          <a:prstGeom prst="rect">
            <a:avLst/>
          </a:prstGeom>
        </p:spPr>
      </p:pic>
    </p:spTree>
    <p:extLst>
      <p:ext uri="{BB962C8B-B14F-4D97-AF65-F5344CB8AC3E}">
        <p14:creationId xmlns:p14="http://schemas.microsoft.com/office/powerpoint/2010/main" val="2290295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Chuyển từ mô hình lớp sang EER</a:t>
            </a:r>
            <a:endParaRPr lang="en-US"/>
          </a:p>
        </p:txBody>
      </p:sp>
      <p:sp>
        <p:nvSpPr>
          <p:cNvPr id="3" name="Content Placeholder 2"/>
          <p:cNvSpPr>
            <a:spLocks noGrp="1"/>
          </p:cNvSpPr>
          <p:nvPr>
            <p:ph idx="1"/>
          </p:nvPr>
        </p:nvSpPr>
        <p:spPr/>
        <p:txBody>
          <a:bodyPr/>
          <a:lstStyle/>
          <a:p>
            <a:pPr marL="0" indent="0">
              <a:buNone/>
            </a:pPr>
            <a:r>
              <a:rPr lang="vi-VN" b="1"/>
              <a:t>Các bước chuyển đổi</a:t>
            </a:r>
            <a:endParaRPr lang="vi-VN"/>
          </a:p>
          <a:p>
            <a:r>
              <a:rPr lang="vi-VN" smtClean="0"/>
              <a:t>Bước </a:t>
            </a:r>
            <a:r>
              <a:rPr lang="vi-VN"/>
              <a:t>2: Quan hệ kết hợp một hay hai chiều được chuyển đổi thành các quan </a:t>
            </a:r>
            <a:r>
              <a:rPr lang="vi-VN" smtClean="0"/>
              <a:t>hệ.</a:t>
            </a:r>
            <a:endParaRPr lang="en-US" smtClean="0"/>
          </a:p>
          <a:p>
            <a:pPr lvl="1"/>
            <a:r>
              <a:rPr lang="vi-VN" smtClean="0"/>
              <a:t>Tuỳ </a:t>
            </a:r>
            <a:r>
              <a:rPr lang="vi-VN"/>
              <a:t>thuộc vào cơ số của quan hệ kết hợp mà quan hệ tương ứng trong quan hệ thực thể là “1-1”, “1-n”, “n-m</a:t>
            </a:r>
            <a:r>
              <a:rPr lang="vi-VN" smtClean="0"/>
              <a:t>”.</a:t>
            </a:r>
            <a:endParaRPr lang="en-US" smtClean="0"/>
          </a:p>
          <a:p>
            <a:endParaRPr lang="en-US"/>
          </a:p>
        </p:txBody>
      </p:sp>
      <p:sp>
        <p:nvSpPr>
          <p:cNvPr id="4" name="Footer Placeholder 3"/>
          <p:cNvSpPr>
            <a:spLocks noGrp="1"/>
          </p:cNvSpPr>
          <p:nvPr>
            <p:ph type="ftr" sz="quarter" idx="10"/>
          </p:nvPr>
        </p:nvSpPr>
        <p:spPr/>
        <p:txBody>
          <a:bodyPr/>
          <a:lstStyle/>
          <a:p>
            <a:r>
              <a:rPr lang="vi-VN" smtClean="0"/>
              <a:t>Phần: Mô hình lớp UML và Mô hình quan hệ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7</a:t>
            </a:fld>
            <a:endParaRPr lang="en-US" dirty="0"/>
          </a:p>
        </p:txBody>
      </p:sp>
    </p:spTree>
    <p:extLst>
      <p:ext uri="{BB962C8B-B14F-4D97-AF65-F5344CB8AC3E}">
        <p14:creationId xmlns:p14="http://schemas.microsoft.com/office/powerpoint/2010/main" val="4011946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Chuyển từ mô hình lớp sang EER</a:t>
            </a:r>
            <a:endParaRPr lang="en-US"/>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0025" y="777782"/>
            <a:ext cx="3650032" cy="2990862"/>
          </a:xfrm>
        </p:spPr>
      </p:pic>
      <p:sp>
        <p:nvSpPr>
          <p:cNvPr id="4" name="Footer Placeholder 3"/>
          <p:cNvSpPr>
            <a:spLocks noGrp="1"/>
          </p:cNvSpPr>
          <p:nvPr>
            <p:ph type="ftr" sz="quarter" idx="10"/>
          </p:nvPr>
        </p:nvSpPr>
        <p:spPr/>
        <p:txBody>
          <a:bodyPr/>
          <a:lstStyle/>
          <a:p>
            <a:r>
              <a:rPr lang="vi-VN" smtClean="0"/>
              <a:t>Phần: Mô hình lớp UML và Mô hình quan hệ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8</a:t>
            </a:fld>
            <a:endParaRPr lang="en-US" dirty="0"/>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50057" y="2173185"/>
            <a:ext cx="5293943" cy="3720886"/>
          </a:xfrm>
          <a:prstGeom prst="rect">
            <a:avLst/>
          </a:prstGeom>
        </p:spPr>
      </p:pic>
      <p:sp>
        <p:nvSpPr>
          <p:cNvPr id="8" name="Curved Right Arrow 7"/>
          <p:cNvSpPr/>
          <p:nvPr/>
        </p:nvSpPr>
        <p:spPr bwMode="auto">
          <a:xfrm rot="20257792">
            <a:off x="2803315" y="3879152"/>
            <a:ext cx="773793" cy="976427"/>
          </a:xfrm>
          <a:prstGeom prst="curved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Verdana" panose="020B0604030504040204" pitchFamily="34" charset="0"/>
            </a:endParaRPr>
          </a:p>
        </p:txBody>
      </p:sp>
    </p:spTree>
    <p:extLst>
      <p:ext uri="{BB962C8B-B14F-4D97-AF65-F5344CB8AC3E}">
        <p14:creationId xmlns:p14="http://schemas.microsoft.com/office/powerpoint/2010/main" val="819264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Chuyển từ mô hình lớp sang EER</a:t>
            </a:r>
            <a:endParaRPr lang="en-US"/>
          </a:p>
        </p:txBody>
      </p:sp>
      <p:sp>
        <p:nvSpPr>
          <p:cNvPr id="3" name="Content Placeholder 2"/>
          <p:cNvSpPr>
            <a:spLocks noGrp="1"/>
          </p:cNvSpPr>
          <p:nvPr>
            <p:ph idx="1"/>
          </p:nvPr>
        </p:nvSpPr>
        <p:spPr/>
        <p:txBody>
          <a:bodyPr/>
          <a:lstStyle/>
          <a:p>
            <a:pPr marL="0" indent="0">
              <a:buNone/>
            </a:pPr>
            <a:r>
              <a:rPr lang="vi-VN" b="1" dirty="0"/>
              <a:t>Các bước chuyển đổi</a:t>
            </a:r>
            <a:endParaRPr lang="vi-VN" dirty="0"/>
          </a:p>
          <a:p>
            <a:r>
              <a:rPr lang="vi-VN" dirty="0" smtClean="0"/>
              <a:t>Bước </a:t>
            </a:r>
            <a:r>
              <a:rPr lang="vi-VN" dirty="0"/>
              <a:t>3: Quan hệ kết hợp có lớp kết hợp:</a:t>
            </a:r>
          </a:p>
          <a:p>
            <a:pPr lvl="1"/>
            <a:r>
              <a:rPr lang="vi-VN" dirty="0" smtClean="0"/>
              <a:t>Lớp </a:t>
            </a:r>
            <a:r>
              <a:rPr lang="vi-VN" dirty="0"/>
              <a:t>kết hợp được chuyển thành mối quan hệ giữa các kiểu thực </a:t>
            </a:r>
            <a:r>
              <a:rPr lang="vi-VN" dirty="0" smtClean="0"/>
              <a:t>thể.</a:t>
            </a:r>
            <a:endParaRPr lang="en-US" dirty="0" smtClean="0"/>
          </a:p>
          <a:p>
            <a:pPr lvl="1"/>
            <a:r>
              <a:rPr lang="vi-VN" dirty="0" smtClean="0"/>
              <a:t>Thuộc </a:t>
            </a:r>
            <a:r>
              <a:rPr lang="vi-VN" dirty="0"/>
              <a:t>tính của lớp kết hợp chuyển thành các thuộc tính của mối quan hệ</a:t>
            </a:r>
            <a:r>
              <a:rPr lang="vi-VN" dirty="0" smtClean="0"/>
              <a:t>.</a:t>
            </a:r>
            <a:endParaRPr lang="en-US" dirty="0" smtClean="0"/>
          </a:p>
        </p:txBody>
      </p:sp>
      <p:sp>
        <p:nvSpPr>
          <p:cNvPr id="4" name="Footer Placeholder 3"/>
          <p:cNvSpPr>
            <a:spLocks noGrp="1"/>
          </p:cNvSpPr>
          <p:nvPr>
            <p:ph type="ftr" sz="quarter" idx="10"/>
          </p:nvPr>
        </p:nvSpPr>
        <p:spPr/>
        <p:txBody>
          <a:bodyPr/>
          <a:lstStyle/>
          <a:p>
            <a:r>
              <a:rPr lang="vi-VN" smtClean="0"/>
              <a:t>Phần: Mô hình lớp UML và Mô hình quan hệ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9</a:t>
            </a:fld>
            <a:endParaRPr lang="en-US" dirty="0"/>
          </a:p>
        </p:txBody>
      </p:sp>
    </p:spTree>
    <p:extLst>
      <p:ext uri="{BB962C8B-B14F-4D97-AF65-F5344CB8AC3E}">
        <p14:creationId xmlns:p14="http://schemas.microsoft.com/office/powerpoint/2010/main" val="767496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Chuyển từ mô hình lớp sang EER</a:t>
            </a:r>
            <a:endParaRPr lang="en-US"/>
          </a:p>
        </p:txBody>
      </p:sp>
      <p:sp>
        <p:nvSpPr>
          <p:cNvPr id="3" name="Content Placeholder 2"/>
          <p:cNvSpPr>
            <a:spLocks noGrp="1"/>
          </p:cNvSpPr>
          <p:nvPr>
            <p:ph idx="1"/>
          </p:nvPr>
        </p:nvSpPr>
        <p:spPr/>
        <p:txBody>
          <a:bodyPr/>
          <a:lstStyle/>
          <a:p>
            <a:pPr marL="0" indent="0">
              <a:buNone/>
            </a:pPr>
            <a:r>
              <a:rPr lang="en-US" smtClean="0"/>
              <a:t>ChiTietPhieuMuon: Lớp kết hợp giữa PhieuMuonSach và Sách</a:t>
            </a:r>
          </a:p>
          <a:p>
            <a:pPr marL="0" indent="0">
              <a:buNone/>
            </a:pPr>
            <a:r>
              <a:rPr lang="en-US" smtClean="0"/>
              <a:t>Quan hệ giữa Sach và PhieuMuonSach N-N</a:t>
            </a:r>
          </a:p>
          <a:p>
            <a:pPr marL="0" indent="0">
              <a:buNone/>
            </a:pPr>
            <a:endParaRPr lang="vi-VN"/>
          </a:p>
        </p:txBody>
      </p:sp>
      <p:sp>
        <p:nvSpPr>
          <p:cNvPr id="4" name="Footer Placeholder 3"/>
          <p:cNvSpPr>
            <a:spLocks noGrp="1"/>
          </p:cNvSpPr>
          <p:nvPr>
            <p:ph type="ftr" sz="quarter" idx="10"/>
          </p:nvPr>
        </p:nvSpPr>
        <p:spPr/>
        <p:txBody>
          <a:bodyPr/>
          <a:lstStyle/>
          <a:p>
            <a:r>
              <a:rPr lang="vi-VN" smtClean="0"/>
              <a:t>Phần: Mô hình lớp UML và Mô hình quan hệ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10</a:t>
            </a:fld>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3843" y="1704047"/>
            <a:ext cx="5524890" cy="3616099"/>
          </a:xfrm>
          <a:prstGeom prst="rect">
            <a:avLst/>
          </a:prstGeom>
        </p:spPr>
      </p:pic>
    </p:spTree>
    <p:extLst>
      <p:ext uri="{BB962C8B-B14F-4D97-AF65-F5344CB8AC3E}">
        <p14:creationId xmlns:p14="http://schemas.microsoft.com/office/powerpoint/2010/main" val="3791487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Chuyển từ mô hình lớp sang EER</a:t>
            </a:r>
            <a:endParaRPr lang="en-US"/>
          </a:p>
        </p:txBody>
      </p:sp>
      <p:sp>
        <p:nvSpPr>
          <p:cNvPr id="3" name="Content Placeholder 2"/>
          <p:cNvSpPr>
            <a:spLocks noGrp="1"/>
          </p:cNvSpPr>
          <p:nvPr>
            <p:ph idx="1"/>
          </p:nvPr>
        </p:nvSpPr>
        <p:spPr/>
        <p:txBody>
          <a:bodyPr/>
          <a:lstStyle/>
          <a:p>
            <a:pPr marL="0" indent="0">
              <a:buNone/>
            </a:pPr>
            <a:r>
              <a:rPr lang="vi-VN" b="1" dirty="0"/>
              <a:t>Các bước chuyển đổi</a:t>
            </a:r>
            <a:endParaRPr lang="vi-VN" dirty="0"/>
          </a:p>
          <a:p>
            <a:r>
              <a:rPr lang="vi-VN" dirty="0" smtClean="0"/>
              <a:t>Bước </a:t>
            </a:r>
            <a:r>
              <a:rPr lang="vi-VN" dirty="0"/>
              <a:t>4: Quan hệ kết tập:</a:t>
            </a:r>
          </a:p>
          <a:p>
            <a:pPr lvl="1"/>
            <a:r>
              <a:rPr lang="vi-VN" dirty="0" smtClean="0"/>
              <a:t>Quan </a:t>
            </a:r>
            <a:r>
              <a:rPr lang="vi-VN" dirty="0"/>
              <a:t>hệ kết tập được chuyển thành mối quan hệ “1-n” giữa 2 kiểu thực thể</a:t>
            </a:r>
          </a:p>
          <a:p>
            <a:r>
              <a:rPr lang="vi-VN" dirty="0" smtClean="0"/>
              <a:t>Bước </a:t>
            </a:r>
            <a:r>
              <a:rPr lang="vi-VN" dirty="0"/>
              <a:t>5: Quan hệ tổng quát hoá:</a:t>
            </a:r>
          </a:p>
          <a:p>
            <a:pPr lvl="1"/>
            <a:r>
              <a:rPr lang="vi-VN" dirty="0" smtClean="0"/>
              <a:t>Quan </a:t>
            </a:r>
            <a:r>
              <a:rPr lang="vi-VN" dirty="0"/>
              <a:t>hệ tổng quát hoá giữa 2 lớp thì được chuyển thành quan hệ chuyên biệt hoá giữa 2 kiểu thực thể biểu diễn lớp cha và lớp con.</a:t>
            </a:r>
            <a:endParaRPr lang="en-US" dirty="0"/>
          </a:p>
        </p:txBody>
      </p:sp>
      <p:sp>
        <p:nvSpPr>
          <p:cNvPr id="4" name="Footer Placeholder 3"/>
          <p:cNvSpPr>
            <a:spLocks noGrp="1"/>
          </p:cNvSpPr>
          <p:nvPr>
            <p:ph type="ftr" sz="quarter" idx="10"/>
          </p:nvPr>
        </p:nvSpPr>
        <p:spPr/>
        <p:txBody>
          <a:bodyPr/>
          <a:lstStyle/>
          <a:p>
            <a:r>
              <a:rPr lang="vi-VN" smtClean="0"/>
              <a:t>Phần: Mô hình lớp UML và Mô hình quan hệ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11</a:t>
            </a:fld>
            <a:endParaRPr lang="en-US" dirty="0"/>
          </a:p>
        </p:txBody>
      </p:sp>
    </p:spTree>
    <p:extLst>
      <p:ext uri="{BB962C8B-B14F-4D97-AF65-F5344CB8AC3E}">
        <p14:creationId xmlns:p14="http://schemas.microsoft.com/office/powerpoint/2010/main" val="836465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Chuyển từ mô hình lớp sang EER</a:t>
            </a:r>
            <a:endParaRPr lang="en-US"/>
          </a:p>
        </p:txBody>
      </p:sp>
      <p:sp>
        <p:nvSpPr>
          <p:cNvPr id="3" name="Content Placeholder 2"/>
          <p:cNvSpPr>
            <a:spLocks noGrp="1"/>
          </p:cNvSpPr>
          <p:nvPr>
            <p:ph idx="1"/>
          </p:nvPr>
        </p:nvSpPr>
        <p:spPr/>
        <p:txBody>
          <a:bodyPr/>
          <a:lstStyle/>
          <a:p>
            <a:pPr marL="0" indent="0">
              <a:buNone/>
            </a:pPr>
            <a:r>
              <a:rPr lang="vi-VN" b="1"/>
              <a:t>Các bước chuyển </a:t>
            </a:r>
            <a:r>
              <a:rPr lang="vi-VN" b="1" smtClean="0"/>
              <a:t>đổi</a:t>
            </a:r>
            <a:endParaRPr lang="vi-VN"/>
          </a:p>
        </p:txBody>
      </p:sp>
      <p:sp>
        <p:nvSpPr>
          <p:cNvPr id="4" name="Footer Placeholder 3"/>
          <p:cNvSpPr>
            <a:spLocks noGrp="1"/>
          </p:cNvSpPr>
          <p:nvPr>
            <p:ph type="ftr" sz="quarter" idx="10"/>
          </p:nvPr>
        </p:nvSpPr>
        <p:spPr/>
        <p:txBody>
          <a:bodyPr/>
          <a:lstStyle/>
          <a:p>
            <a:r>
              <a:rPr lang="vi-VN" smtClean="0"/>
              <a:t>Phần: Mô hình lớp UML và Mô hình quan hệ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12</a:t>
            </a:fld>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43315"/>
            <a:ext cx="4962525" cy="2686050"/>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24275" y="3374200"/>
            <a:ext cx="5343525" cy="2581275"/>
          </a:xfrm>
          <a:prstGeom prst="rect">
            <a:avLst/>
          </a:prstGeom>
        </p:spPr>
      </p:pic>
      <p:sp>
        <p:nvSpPr>
          <p:cNvPr id="9" name="Curved Right Arrow 8"/>
          <p:cNvSpPr/>
          <p:nvPr/>
        </p:nvSpPr>
        <p:spPr bwMode="auto">
          <a:xfrm rot="20367946">
            <a:off x="2410691" y="3658338"/>
            <a:ext cx="914401" cy="1068779"/>
          </a:xfrm>
          <a:prstGeom prst="curved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Verdana" panose="020B0604030504040204" pitchFamily="34" charset="0"/>
            </a:endParaRPr>
          </a:p>
        </p:txBody>
      </p:sp>
    </p:spTree>
    <p:extLst>
      <p:ext uri="{BB962C8B-B14F-4D97-AF65-F5344CB8AC3E}">
        <p14:creationId xmlns:p14="http://schemas.microsoft.com/office/powerpoint/2010/main" val="2008640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Bài tập chuyển từ Class Diagram </a:t>
            </a:r>
            <a:r>
              <a:rPr lang="en-US" smtClean="0">
                <a:sym typeface="Symbol" panose="05050102010706020507" pitchFamily="18" charset="2"/>
              </a:rPr>
              <a:t> EER</a:t>
            </a:r>
            <a:endParaRPr lang="en-US"/>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90612" y="794544"/>
            <a:ext cx="6962775" cy="4619625"/>
          </a:xfrm>
        </p:spPr>
      </p:pic>
      <p:sp>
        <p:nvSpPr>
          <p:cNvPr id="4" name="Footer Placeholder 3"/>
          <p:cNvSpPr>
            <a:spLocks noGrp="1"/>
          </p:cNvSpPr>
          <p:nvPr>
            <p:ph type="ftr" sz="quarter" idx="10"/>
          </p:nvPr>
        </p:nvSpPr>
        <p:spPr/>
        <p:txBody>
          <a:bodyPr/>
          <a:lstStyle/>
          <a:p>
            <a:r>
              <a:rPr lang="vi-VN" smtClean="0"/>
              <a:t>Phần: Mô hình lớp UML và Mô hình quan hệ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13</a:t>
            </a:fld>
            <a:endParaRPr lang="en-US" dirty="0"/>
          </a:p>
        </p:txBody>
      </p:sp>
    </p:spTree>
    <p:extLst>
      <p:ext uri="{BB962C8B-B14F-4D97-AF65-F5344CB8AC3E}">
        <p14:creationId xmlns:p14="http://schemas.microsoft.com/office/powerpoint/2010/main" val="3911915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Bài</a:t>
            </a:r>
            <a:r>
              <a:rPr lang="en-US" dirty="0" smtClean="0"/>
              <a:t> </a:t>
            </a:r>
            <a:r>
              <a:rPr lang="en-US" dirty="0" err="1" smtClean="0"/>
              <a:t>tập</a:t>
            </a:r>
            <a:r>
              <a:rPr lang="en-US" dirty="0" smtClean="0"/>
              <a:t> </a:t>
            </a:r>
            <a:r>
              <a:rPr lang="en-US" dirty="0" err="1" smtClean="0"/>
              <a:t>chuyển</a:t>
            </a:r>
            <a:r>
              <a:rPr lang="en-US" dirty="0" smtClean="0"/>
              <a:t> </a:t>
            </a:r>
            <a:r>
              <a:rPr lang="en-US" dirty="0" err="1" smtClean="0"/>
              <a:t>từ</a:t>
            </a:r>
            <a:r>
              <a:rPr lang="en-US" dirty="0" smtClean="0"/>
              <a:t> Class Diagram </a:t>
            </a:r>
            <a:r>
              <a:rPr lang="en-US" dirty="0" smtClean="0">
                <a:sym typeface="Symbol" panose="05050102010706020507" pitchFamily="18" charset="2"/>
              </a:rPr>
              <a:t> EER</a:t>
            </a:r>
            <a:endParaRPr lang="en-US" dirty="0"/>
          </a:p>
        </p:txBody>
      </p:sp>
      <p:sp>
        <p:nvSpPr>
          <p:cNvPr id="4" name="Footer Placeholder 3"/>
          <p:cNvSpPr>
            <a:spLocks noGrp="1"/>
          </p:cNvSpPr>
          <p:nvPr>
            <p:ph type="ftr" sz="quarter" idx="10"/>
          </p:nvPr>
        </p:nvSpPr>
        <p:spPr/>
        <p:txBody>
          <a:bodyPr/>
          <a:lstStyle/>
          <a:p>
            <a:r>
              <a:rPr lang="vi-VN" smtClean="0"/>
              <a:t>Phần: Mô hình lớp UML và Mô hình quan hệ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14</a:t>
            </a:fld>
            <a:endParaRPr lang="en-US" dirty="0"/>
          </a:p>
        </p:txBody>
      </p:sp>
      <p:sp>
        <p:nvSpPr>
          <p:cNvPr id="3" name="Content Placeholder 2"/>
          <p:cNvSpPr>
            <a:spLocks noGrp="1"/>
          </p:cNvSpPr>
          <p:nvPr>
            <p:ph idx="1"/>
          </p:nvPr>
        </p:nvSpPr>
        <p:spPr/>
        <p:txBody>
          <a:bodyPr/>
          <a:lstStyle/>
          <a:p>
            <a:r>
              <a:rPr lang="vi-VN" sz="2800" b="1" dirty="0"/>
              <a:t> </a:t>
            </a:r>
            <a:r>
              <a:rPr lang="vi-VN" sz="2800" b="1" dirty="0" smtClean="0"/>
              <a:t>Bài toán</a:t>
            </a:r>
            <a:endParaRPr lang="en-US" sz="2800" b="1" dirty="0" smtClean="0"/>
          </a:p>
          <a:p>
            <a:pPr marL="0" indent="0" algn="just">
              <a:buNone/>
            </a:pPr>
            <a:r>
              <a:rPr lang="vi-VN" sz="2800" dirty="0"/>
              <a:t>Trường Đại học Dân lập Hải Phòng chuyển sang hình thức đào tạo theo chế tín chỉ từ năm 2008, với hình thức đào tạo này sinh viên khi mới nhập trường sẽ được sắp xếp vào các lớp niên chế ban đầu để sinh hoạt quản lý trong toàn khóa học. Trước khi bắt đầu học kỳ mới của năm học (</a:t>
            </a:r>
            <a:r>
              <a:rPr lang="vi-VN" sz="2800" i="1" dirty="0"/>
              <a:t>khoảng 1 tháng</a:t>
            </a:r>
            <a:r>
              <a:rPr lang="vi-VN" sz="2800" dirty="0"/>
              <a:t>) dựa vào danh sách các môn học chung và riêng của các ngành đào tạo trong chương trình đào tạo của từng ngành đã được xây dựng, phê duyệt, áp dụng để tạo lập ra các lớp môn học cụ thể cho từng môn </a:t>
            </a:r>
            <a:r>
              <a:rPr lang="vi-VN" sz="2800" dirty="0" smtClean="0"/>
              <a:t>học</a:t>
            </a:r>
            <a:r>
              <a:rPr lang="en-US" sz="2800" dirty="0" smtClean="0"/>
              <a:t> </a:t>
            </a:r>
            <a:r>
              <a:rPr lang="vi-VN" sz="2800" dirty="0"/>
              <a:t>kèm theo thông tin giảng viên được phân công giảng dạy lớp môn học đó</a:t>
            </a:r>
            <a:r>
              <a:rPr lang="vi-VN" sz="2800" dirty="0" smtClean="0"/>
              <a:t>,</a:t>
            </a:r>
            <a:r>
              <a:rPr lang="en-US" sz="2800" dirty="0" smtClean="0"/>
              <a:t> </a:t>
            </a:r>
            <a:r>
              <a:rPr lang="vi-VN" sz="2800" dirty="0"/>
              <a:t> sau đó chuyển cho sinh </a:t>
            </a:r>
          </a:p>
        </p:txBody>
      </p:sp>
    </p:spTree>
    <p:extLst>
      <p:ext uri="{BB962C8B-B14F-4D97-AF65-F5344CB8AC3E}">
        <p14:creationId xmlns:p14="http://schemas.microsoft.com/office/powerpoint/2010/main" val="1340385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Bài</a:t>
            </a:r>
            <a:r>
              <a:rPr lang="en-US" dirty="0" smtClean="0"/>
              <a:t> </a:t>
            </a:r>
            <a:r>
              <a:rPr lang="en-US" dirty="0" err="1" smtClean="0"/>
              <a:t>tập</a:t>
            </a:r>
            <a:r>
              <a:rPr lang="en-US" dirty="0" smtClean="0"/>
              <a:t> </a:t>
            </a:r>
            <a:r>
              <a:rPr lang="en-US" dirty="0" err="1" smtClean="0"/>
              <a:t>chuyển</a:t>
            </a:r>
            <a:r>
              <a:rPr lang="en-US" dirty="0" smtClean="0"/>
              <a:t> </a:t>
            </a:r>
            <a:r>
              <a:rPr lang="en-US" dirty="0" err="1" smtClean="0"/>
              <a:t>từ</a:t>
            </a:r>
            <a:r>
              <a:rPr lang="en-US" dirty="0" smtClean="0"/>
              <a:t> Class Diagram </a:t>
            </a:r>
            <a:r>
              <a:rPr lang="en-US" dirty="0" smtClean="0">
                <a:sym typeface="Symbol" panose="05050102010706020507" pitchFamily="18" charset="2"/>
              </a:rPr>
              <a:t> EER</a:t>
            </a:r>
            <a:endParaRPr lang="en-US" dirty="0"/>
          </a:p>
        </p:txBody>
      </p:sp>
      <p:sp>
        <p:nvSpPr>
          <p:cNvPr id="4" name="Footer Placeholder 3"/>
          <p:cNvSpPr>
            <a:spLocks noGrp="1"/>
          </p:cNvSpPr>
          <p:nvPr>
            <p:ph type="ftr" sz="quarter" idx="10"/>
          </p:nvPr>
        </p:nvSpPr>
        <p:spPr/>
        <p:txBody>
          <a:bodyPr/>
          <a:lstStyle/>
          <a:p>
            <a:r>
              <a:rPr lang="vi-VN" smtClean="0"/>
              <a:t>Phần: Mô hình lớp UML và Mô hình quan hệ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15</a:t>
            </a:fld>
            <a:endParaRPr lang="en-US" dirty="0"/>
          </a:p>
        </p:txBody>
      </p:sp>
      <p:sp>
        <p:nvSpPr>
          <p:cNvPr id="3" name="Content Placeholder 2"/>
          <p:cNvSpPr>
            <a:spLocks noGrp="1"/>
          </p:cNvSpPr>
          <p:nvPr>
            <p:ph idx="1"/>
          </p:nvPr>
        </p:nvSpPr>
        <p:spPr/>
        <p:txBody>
          <a:bodyPr/>
          <a:lstStyle/>
          <a:p>
            <a:pPr marL="0" indent="0" algn="just">
              <a:buNone/>
            </a:pPr>
            <a:r>
              <a:rPr lang="vi-VN" sz="2800" dirty="0"/>
              <a:t>viên đăng ký học (</a:t>
            </a:r>
            <a:r>
              <a:rPr lang="vi-VN" sz="2800" i="1" dirty="0"/>
              <a:t>sinh viên đăng ký học qua mạng Internet, được quyền chủ động lựa chọn đăng ký môn học trong kỳ và giảng viên giảng dạy với sự trợ giúp của cố vấn học tập</a:t>
            </a:r>
            <a:r>
              <a:rPr lang="vi-VN" sz="2800" dirty="0"/>
              <a:t>), hết thời hạn đăng ký học, nếu lớp môn học nào có số sinh viên đăng ký học quá ít không đủ số lượng tối thiểu để mở lớp thì sẽ bị hủy lớp. Giảng viên của trường tham gia giảng dạy bao gồm đội ngũ giảng viên cơ hữu và giảng viên thỉnh giảng</a:t>
            </a:r>
            <a:r>
              <a:rPr lang="vi-VN" sz="2800" dirty="0" smtClean="0"/>
              <a:t>.</a:t>
            </a:r>
            <a:r>
              <a:rPr lang="en-US" sz="2800" dirty="0" smtClean="0"/>
              <a:t> </a:t>
            </a:r>
            <a:r>
              <a:rPr lang="vi-VN" sz="2800" dirty="0"/>
              <a:t>Giảng viên cơ hữu được ký hợp đồng với nhà trường, được hưởng các quyền lợi theo chế độ quy định và phải thực hiện các khối lượng công việc được quy định trong 1 năm </a:t>
            </a:r>
            <a:r>
              <a:rPr lang="vi-VN" sz="2800" i="1" dirty="0"/>
              <a:t>(bao gồm: số tiết phải giảng dạy, số giờ phải tham gia nghiên cứu </a:t>
            </a:r>
            <a:endParaRPr lang="vi-VN" sz="2800" dirty="0"/>
          </a:p>
        </p:txBody>
      </p:sp>
    </p:spTree>
    <p:extLst>
      <p:ext uri="{BB962C8B-B14F-4D97-AF65-F5344CB8AC3E}">
        <p14:creationId xmlns:p14="http://schemas.microsoft.com/office/powerpoint/2010/main" val="2142222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Bài</a:t>
            </a:r>
            <a:r>
              <a:rPr lang="en-US" dirty="0" smtClean="0"/>
              <a:t> </a:t>
            </a:r>
            <a:r>
              <a:rPr lang="en-US" dirty="0" err="1" smtClean="0"/>
              <a:t>tập</a:t>
            </a:r>
            <a:r>
              <a:rPr lang="en-US" dirty="0" smtClean="0"/>
              <a:t> </a:t>
            </a:r>
            <a:r>
              <a:rPr lang="en-US" dirty="0" err="1" smtClean="0"/>
              <a:t>chuyển</a:t>
            </a:r>
            <a:r>
              <a:rPr lang="en-US" dirty="0" smtClean="0"/>
              <a:t> </a:t>
            </a:r>
            <a:r>
              <a:rPr lang="en-US" dirty="0" err="1" smtClean="0"/>
              <a:t>từ</a:t>
            </a:r>
            <a:r>
              <a:rPr lang="en-US" dirty="0" smtClean="0"/>
              <a:t> Class Diagram </a:t>
            </a:r>
            <a:r>
              <a:rPr lang="en-US" dirty="0" smtClean="0">
                <a:sym typeface="Symbol" panose="05050102010706020507" pitchFamily="18" charset="2"/>
              </a:rPr>
              <a:t> EER</a:t>
            </a:r>
            <a:endParaRPr lang="en-US" dirty="0"/>
          </a:p>
        </p:txBody>
      </p:sp>
      <p:sp>
        <p:nvSpPr>
          <p:cNvPr id="4" name="Footer Placeholder 3"/>
          <p:cNvSpPr>
            <a:spLocks noGrp="1"/>
          </p:cNvSpPr>
          <p:nvPr>
            <p:ph type="ftr" sz="quarter" idx="10"/>
          </p:nvPr>
        </p:nvSpPr>
        <p:spPr/>
        <p:txBody>
          <a:bodyPr/>
          <a:lstStyle/>
          <a:p>
            <a:r>
              <a:rPr lang="vi-VN" smtClean="0"/>
              <a:t>Phần: Mô hình lớp UML và Mô hình quan hệ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16</a:t>
            </a:fld>
            <a:endParaRPr lang="en-US" dirty="0"/>
          </a:p>
        </p:txBody>
      </p:sp>
      <p:sp>
        <p:nvSpPr>
          <p:cNvPr id="3" name="Content Placeholder 2"/>
          <p:cNvSpPr>
            <a:spLocks noGrp="1"/>
          </p:cNvSpPr>
          <p:nvPr>
            <p:ph idx="1"/>
          </p:nvPr>
        </p:nvSpPr>
        <p:spPr/>
        <p:txBody>
          <a:bodyPr/>
          <a:lstStyle/>
          <a:p>
            <a:pPr marL="0" indent="0" algn="just">
              <a:buNone/>
            </a:pPr>
            <a:r>
              <a:rPr lang="vi-VN" sz="2800" i="1" dirty="0"/>
              <a:t>khoa học, số giờ phải tự học tập bồi dưỡng, số giờ sinh hoạt hội họp chuyên môn</a:t>
            </a:r>
            <a:r>
              <a:rPr lang="vi-VN" sz="2800" dirty="0"/>
              <a:t>) tương ứng với từng hệ số lương đang được hưởng. Giảng viên thỉnh giảng tham gia giảng dạy bao gồm giảng viên tại Hải Phòng và ở Hà Nội, các giảng viên khi tham gia giảng dạy lớp môn học nào kết </a:t>
            </a:r>
            <a:r>
              <a:rPr lang="vi-VN" sz="2800" dirty="0" smtClean="0"/>
              <a:t>thúc</a:t>
            </a:r>
            <a:r>
              <a:rPr lang="en-US" sz="2800" dirty="0" smtClean="0"/>
              <a:t> </a:t>
            </a:r>
            <a:r>
              <a:rPr lang="vi-VN" sz="2800" dirty="0"/>
              <a:t>xong sẽ được thanh toán ngay theo giá biểu qui định tương ứng với từng học vị, học hàm của giảng viên và thêm hệ số thu hút. Riêng giảng viên ở Hà Nội sẽ được tính thêm phụ </a:t>
            </a:r>
            <a:r>
              <a:rPr lang="vi-VN" sz="2800" i="1" dirty="0"/>
              <a:t>cấp đi lại và hệ số xa nhà</a:t>
            </a:r>
            <a:r>
              <a:rPr lang="vi-VN" sz="2800" dirty="0"/>
              <a:t>.</a:t>
            </a:r>
          </a:p>
        </p:txBody>
      </p:sp>
    </p:spTree>
    <p:extLst>
      <p:ext uri="{BB962C8B-B14F-4D97-AF65-F5344CB8AC3E}">
        <p14:creationId xmlns:p14="http://schemas.microsoft.com/office/powerpoint/2010/main" val="2142222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Bài</a:t>
            </a:r>
            <a:r>
              <a:rPr lang="en-US" dirty="0" smtClean="0"/>
              <a:t> </a:t>
            </a:r>
            <a:r>
              <a:rPr lang="en-US" dirty="0" err="1" smtClean="0"/>
              <a:t>tập</a:t>
            </a:r>
            <a:r>
              <a:rPr lang="en-US" dirty="0" smtClean="0"/>
              <a:t> </a:t>
            </a:r>
            <a:r>
              <a:rPr lang="en-US" dirty="0" err="1" smtClean="0"/>
              <a:t>chuyển</a:t>
            </a:r>
            <a:r>
              <a:rPr lang="en-US" dirty="0" smtClean="0"/>
              <a:t> </a:t>
            </a:r>
            <a:r>
              <a:rPr lang="en-US" dirty="0" err="1" smtClean="0"/>
              <a:t>từ</a:t>
            </a:r>
            <a:r>
              <a:rPr lang="en-US" dirty="0" smtClean="0"/>
              <a:t> Class Diagram </a:t>
            </a:r>
            <a:r>
              <a:rPr lang="en-US" dirty="0" smtClean="0">
                <a:sym typeface="Symbol" panose="05050102010706020507" pitchFamily="18" charset="2"/>
              </a:rPr>
              <a:t> EER</a:t>
            </a:r>
            <a:endParaRPr lang="en-US" dirty="0"/>
          </a:p>
        </p:txBody>
      </p:sp>
      <p:sp>
        <p:nvSpPr>
          <p:cNvPr id="4" name="Footer Placeholder 3"/>
          <p:cNvSpPr>
            <a:spLocks noGrp="1"/>
          </p:cNvSpPr>
          <p:nvPr>
            <p:ph type="ftr" sz="quarter" idx="10"/>
          </p:nvPr>
        </p:nvSpPr>
        <p:spPr/>
        <p:txBody>
          <a:bodyPr/>
          <a:lstStyle/>
          <a:p>
            <a:r>
              <a:rPr lang="vi-VN" smtClean="0"/>
              <a:t>Phần: Mô hình lớp UML và Mô hình quan hệ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17</a:t>
            </a:fld>
            <a:endParaRPr lang="en-US" dirty="0"/>
          </a:p>
        </p:txBody>
      </p:sp>
      <p:sp>
        <p:nvSpPr>
          <p:cNvPr id="3" name="Content Placeholder 2"/>
          <p:cNvSpPr>
            <a:spLocks noGrp="1"/>
          </p:cNvSpPr>
          <p:nvPr>
            <p:ph idx="1"/>
          </p:nvPr>
        </p:nvSpPr>
        <p:spPr/>
        <p:txBody>
          <a:bodyPr/>
          <a:lstStyle/>
          <a:p>
            <a:pPr marL="0" indent="0">
              <a:buNone/>
            </a:pPr>
            <a:r>
              <a:rPr lang="vi-VN" b="1" dirty="0"/>
              <a:t>Các bước chuyển đổi</a:t>
            </a:r>
            <a:endParaRPr lang="vi-VN" dirty="0"/>
          </a:p>
          <a:p>
            <a:pPr>
              <a:buFont typeface="Wingdings" pitchFamily="2" charset="2"/>
              <a:buChar char="q"/>
            </a:pPr>
            <a:r>
              <a:rPr lang="vi-VN" dirty="0"/>
              <a:t>Bước 1: Mỗi lớp trong biểu đồ lớp ta tạo ra 1 kiểu thực thể </a:t>
            </a:r>
            <a:r>
              <a:rPr lang="vi-VN" dirty="0" smtClean="0"/>
              <a:t>tương</a:t>
            </a:r>
            <a:endParaRPr lang="en-US" dirty="0" smtClean="0"/>
          </a:p>
          <a:p>
            <a:pPr marL="0" indent="0">
              <a:buNone/>
            </a:pPr>
            <a:r>
              <a:rPr lang="vi-VN" dirty="0" smtClean="0"/>
              <a:t>ứng.</a:t>
            </a:r>
            <a:r>
              <a:rPr lang="en-US" dirty="0" smtClean="0"/>
              <a:t> </a:t>
            </a:r>
            <a:r>
              <a:rPr lang="vi-VN" dirty="0" smtClean="0"/>
              <a:t>Các </a:t>
            </a:r>
            <a:r>
              <a:rPr lang="vi-VN" dirty="0"/>
              <a:t>thuộc tính của lớp được chuyển thành các thuộc tính của kiểu thực </a:t>
            </a:r>
            <a:r>
              <a:rPr lang="vi-VN" dirty="0" smtClean="0"/>
              <a:t>thể.</a:t>
            </a:r>
            <a:r>
              <a:rPr lang="en-US" dirty="0" smtClean="0"/>
              <a:t> </a:t>
            </a:r>
            <a:r>
              <a:rPr lang="vi-VN" dirty="0" smtClean="0"/>
              <a:t>Thuộc </a:t>
            </a:r>
            <a:r>
              <a:rPr lang="vi-VN" dirty="0"/>
              <a:t>tính định danh sử dụng để làm thuộc tính khoá.</a:t>
            </a:r>
          </a:p>
          <a:p>
            <a:pPr marL="0" indent="0">
              <a:buNone/>
            </a:pPr>
            <a:endParaRPr lang="vi-VN" sz="2800"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604" y="2483709"/>
            <a:ext cx="7357418" cy="3595816"/>
          </a:xfrm>
          <a:prstGeom prst="rect">
            <a:avLst/>
          </a:prstGeom>
        </p:spPr>
      </p:pic>
    </p:spTree>
    <p:extLst>
      <p:ext uri="{BB962C8B-B14F-4D97-AF65-F5344CB8AC3E}">
        <p14:creationId xmlns:p14="http://schemas.microsoft.com/office/powerpoint/2010/main" val="3425292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Bài</a:t>
            </a:r>
            <a:r>
              <a:rPr lang="en-US" dirty="0" smtClean="0"/>
              <a:t> </a:t>
            </a:r>
            <a:r>
              <a:rPr lang="en-US" dirty="0" err="1" smtClean="0"/>
              <a:t>tập</a:t>
            </a:r>
            <a:r>
              <a:rPr lang="en-US" dirty="0" smtClean="0"/>
              <a:t> </a:t>
            </a:r>
            <a:r>
              <a:rPr lang="en-US" dirty="0" err="1" smtClean="0"/>
              <a:t>chuyển</a:t>
            </a:r>
            <a:r>
              <a:rPr lang="en-US" dirty="0" smtClean="0"/>
              <a:t> </a:t>
            </a:r>
            <a:r>
              <a:rPr lang="en-US" dirty="0" err="1" smtClean="0"/>
              <a:t>từ</a:t>
            </a:r>
            <a:r>
              <a:rPr lang="en-US" dirty="0" smtClean="0"/>
              <a:t> Class Diagram </a:t>
            </a:r>
            <a:r>
              <a:rPr lang="en-US" dirty="0" smtClean="0">
                <a:sym typeface="Symbol" panose="05050102010706020507" pitchFamily="18" charset="2"/>
              </a:rPr>
              <a:t> EER</a:t>
            </a:r>
            <a:endParaRPr lang="en-US" dirty="0"/>
          </a:p>
        </p:txBody>
      </p:sp>
      <p:sp>
        <p:nvSpPr>
          <p:cNvPr id="4" name="Footer Placeholder 3"/>
          <p:cNvSpPr>
            <a:spLocks noGrp="1"/>
          </p:cNvSpPr>
          <p:nvPr>
            <p:ph type="ftr" sz="quarter" idx="10"/>
          </p:nvPr>
        </p:nvSpPr>
        <p:spPr/>
        <p:txBody>
          <a:bodyPr/>
          <a:lstStyle/>
          <a:p>
            <a:r>
              <a:rPr lang="vi-VN" smtClean="0"/>
              <a:t>Phần: Mô hình lớp UML và Mô hình quan hệ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18</a:t>
            </a:fld>
            <a:endParaRPr lang="en-US" dirty="0"/>
          </a:p>
        </p:txBody>
      </p:sp>
      <p:sp>
        <p:nvSpPr>
          <p:cNvPr id="3" name="Content Placeholder 2"/>
          <p:cNvSpPr>
            <a:spLocks noGrp="1"/>
          </p:cNvSpPr>
          <p:nvPr>
            <p:ph idx="1"/>
          </p:nvPr>
        </p:nvSpPr>
        <p:spPr/>
        <p:txBody>
          <a:bodyPr/>
          <a:lstStyle/>
          <a:p>
            <a:pPr>
              <a:buFont typeface="Wingdings" pitchFamily="2" charset="2"/>
              <a:buChar char="q"/>
            </a:pPr>
            <a:r>
              <a:rPr lang="vi-VN" sz="2800" dirty="0"/>
              <a:t>Bước 2: Quan hệ kết hợp một hay hai chiều được chuyển đổi thành các quan </a:t>
            </a:r>
            <a:r>
              <a:rPr lang="vi-VN" sz="2800" dirty="0" smtClean="0"/>
              <a:t>hệ.</a:t>
            </a:r>
            <a:endParaRPr lang="en-US" sz="2800" dirty="0" smtClean="0"/>
          </a:p>
          <a:p>
            <a:pPr marL="0" indent="0">
              <a:buNone/>
            </a:pPr>
            <a:r>
              <a:rPr lang="vi-VN" sz="2800" dirty="0" smtClean="0"/>
              <a:t>Tuỳ </a:t>
            </a:r>
            <a:r>
              <a:rPr lang="vi-VN" sz="2800" dirty="0"/>
              <a:t>thuộc vào cơ số của quan hệ kết hợp mà quan hệ tương ứng trong quan hệ thực thể là “1-1”, “1-n”, “n-m”.</a:t>
            </a:r>
          </a:p>
          <a:p>
            <a:pPr marL="0" indent="0">
              <a:buNone/>
            </a:pPr>
            <a:endParaRPr lang="vi-VN" sz="2800" dirty="0"/>
          </a:p>
        </p:txBody>
      </p:sp>
    </p:spTree>
    <p:extLst>
      <p:ext uri="{BB962C8B-B14F-4D97-AF65-F5344CB8AC3E}">
        <p14:creationId xmlns:p14="http://schemas.microsoft.com/office/powerpoint/2010/main" val="4203432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fld id="{099B615F-C769-49CC-AD0C-AE566D56EEA8}" type="slidenum">
              <a:rPr lang="en-US" smtClean="0"/>
              <a:pPr/>
              <a:t>19</a:t>
            </a:fld>
            <a:endParaRPr lang="en-US" dirty="0"/>
          </a:p>
        </p:txBody>
      </p:sp>
      <p:pic>
        <p:nvPicPr>
          <p:cNvPr id="6" name="Content Placeholder 5"/>
          <p:cNvPicPr>
            <a:picLocks noGrp="1" noChangeAspect="1"/>
          </p:cNvPicPr>
          <p:nvPr>
            <p:ph idx="1"/>
          </p:nvPr>
        </p:nvPicPr>
        <p:blipFill rotWithShape="1">
          <a:blip r:embed="rId2">
            <a:extLst>
              <a:ext uri="{28A0092B-C50C-407E-A947-70E740481C1C}">
                <a14:useLocalDpi xmlns:a14="http://schemas.microsoft.com/office/drawing/2010/main" val="0"/>
              </a:ext>
            </a:extLst>
          </a:blip>
          <a:srcRect b="1528"/>
          <a:stretch/>
        </p:blipFill>
        <p:spPr>
          <a:xfrm>
            <a:off x="210065" y="172995"/>
            <a:ext cx="8711513" cy="5572897"/>
          </a:xfrm>
          <a:prstGeom prst="rect">
            <a:avLst/>
          </a:prstGeom>
        </p:spPr>
      </p:pic>
      <p:sp>
        <p:nvSpPr>
          <p:cNvPr id="7" name="Title 6"/>
          <p:cNvSpPr>
            <a:spLocks noGrp="1"/>
          </p:cNvSpPr>
          <p:nvPr>
            <p:ph type="title"/>
          </p:nvPr>
        </p:nvSpPr>
        <p:spPr/>
        <p:txBody>
          <a:bodyPr/>
          <a:lstStyle/>
          <a:p>
            <a:endParaRPr lang="en-US"/>
          </a:p>
        </p:txBody>
      </p:sp>
    </p:spTree>
    <p:extLst>
      <p:ext uri="{BB962C8B-B14F-4D97-AF65-F5344CB8AC3E}">
        <p14:creationId xmlns:p14="http://schemas.microsoft.com/office/powerpoint/2010/main" val="8971641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Bài</a:t>
            </a:r>
            <a:r>
              <a:rPr lang="en-US" dirty="0" smtClean="0"/>
              <a:t> </a:t>
            </a:r>
            <a:r>
              <a:rPr lang="en-US" dirty="0" err="1" smtClean="0"/>
              <a:t>tập</a:t>
            </a:r>
            <a:r>
              <a:rPr lang="en-US" dirty="0" smtClean="0"/>
              <a:t> </a:t>
            </a:r>
            <a:r>
              <a:rPr lang="en-US" dirty="0" err="1" smtClean="0"/>
              <a:t>chuyển</a:t>
            </a:r>
            <a:r>
              <a:rPr lang="en-US" dirty="0" smtClean="0"/>
              <a:t> </a:t>
            </a:r>
            <a:r>
              <a:rPr lang="en-US" dirty="0" err="1" smtClean="0"/>
              <a:t>từ</a:t>
            </a:r>
            <a:r>
              <a:rPr lang="en-US" dirty="0" smtClean="0"/>
              <a:t> Class Diagram </a:t>
            </a:r>
            <a:r>
              <a:rPr lang="en-US" dirty="0" smtClean="0">
                <a:sym typeface="Symbol" panose="05050102010706020507" pitchFamily="18" charset="2"/>
              </a:rPr>
              <a:t> EER</a:t>
            </a:r>
            <a:endParaRPr lang="en-US" dirty="0"/>
          </a:p>
        </p:txBody>
      </p:sp>
      <p:sp>
        <p:nvSpPr>
          <p:cNvPr id="4" name="Footer Placeholder 3"/>
          <p:cNvSpPr>
            <a:spLocks noGrp="1"/>
          </p:cNvSpPr>
          <p:nvPr>
            <p:ph type="ftr" sz="quarter" idx="10"/>
          </p:nvPr>
        </p:nvSpPr>
        <p:spPr/>
        <p:txBody>
          <a:bodyPr/>
          <a:lstStyle/>
          <a:p>
            <a:r>
              <a:rPr lang="vi-VN" smtClean="0"/>
              <a:t>Phần: Mô hình lớp UML và Mô hình quan hệ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20</a:t>
            </a:fld>
            <a:endParaRPr lang="en-US" dirty="0"/>
          </a:p>
        </p:txBody>
      </p:sp>
      <p:sp>
        <p:nvSpPr>
          <p:cNvPr id="3" name="Content Placeholder 2"/>
          <p:cNvSpPr>
            <a:spLocks noGrp="1"/>
          </p:cNvSpPr>
          <p:nvPr>
            <p:ph idx="1"/>
          </p:nvPr>
        </p:nvSpPr>
        <p:spPr/>
        <p:txBody>
          <a:bodyPr/>
          <a:lstStyle/>
          <a:p>
            <a:r>
              <a:rPr lang="vi-VN" dirty="0"/>
              <a:t>Bước 3: Quan hệ kết hợp có lớp kết hợp:</a:t>
            </a:r>
          </a:p>
          <a:p>
            <a:pPr marL="0" indent="0">
              <a:buNone/>
            </a:pPr>
            <a:r>
              <a:rPr lang="vi-VN" dirty="0"/>
              <a:t>Lớp kết hợp được chuyển thành mối quan hệ giữa các kiểu thực thể.</a:t>
            </a:r>
          </a:p>
          <a:p>
            <a:pPr marL="0" indent="0">
              <a:buNone/>
            </a:pPr>
            <a:r>
              <a:rPr lang="vi-VN" dirty="0"/>
              <a:t>Thuộc tính của lớp kết hợp chuyển thành các thuộc tính của mối quan hệ.</a:t>
            </a:r>
          </a:p>
          <a:p>
            <a:pPr marL="0" indent="0">
              <a:buNone/>
            </a:pPr>
            <a:endParaRPr lang="en-US" dirty="0"/>
          </a:p>
        </p:txBody>
      </p:sp>
    </p:spTree>
    <p:extLst>
      <p:ext uri="{BB962C8B-B14F-4D97-AF65-F5344CB8AC3E}">
        <p14:creationId xmlns:p14="http://schemas.microsoft.com/office/powerpoint/2010/main" val="40199541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fld id="{099B615F-C769-49CC-AD0C-AE566D56EEA8}" type="slidenum">
              <a:rPr lang="en-US" smtClean="0"/>
              <a:pPr/>
              <a:t>21</a:t>
            </a:fld>
            <a:endParaRPr lang="en-US" dirty="0"/>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44844" y="135924"/>
            <a:ext cx="8180172" cy="5684107"/>
          </a:xfrm>
          <a:prstGeom prst="rect">
            <a:avLst/>
          </a:prstGeom>
        </p:spPr>
      </p:pic>
      <p:sp>
        <p:nvSpPr>
          <p:cNvPr id="8" name="Title 7"/>
          <p:cNvSpPr>
            <a:spLocks noGrp="1"/>
          </p:cNvSpPr>
          <p:nvPr>
            <p:ph type="title"/>
          </p:nvPr>
        </p:nvSpPr>
        <p:spPr/>
        <p:txBody>
          <a:bodyPr/>
          <a:lstStyle/>
          <a:p>
            <a:endParaRPr lang="en-US"/>
          </a:p>
        </p:txBody>
      </p:sp>
    </p:spTree>
    <p:extLst>
      <p:ext uri="{BB962C8B-B14F-4D97-AF65-F5344CB8AC3E}">
        <p14:creationId xmlns:p14="http://schemas.microsoft.com/office/powerpoint/2010/main" val="40199541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Bài</a:t>
            </a:r>
            <a:r>
              <a:rPr lang="en-US" dirty="0" smtClean="0"/>
              <a:t> </a:t>
            </a:r>
            <a:r>
              <a:rPr lang="en-US" dirty="0" err="1" smtClean="0"/>
              <a:t>tập</a:t>
            </a:r>
            <a:r>
              <a:rPr lang="en-US" dirty="0" smtClean="0"/>
              <a:t> </a:t>
            </a:r>
            <a:r>
              <a:rPr lang="en-US" dirty="0" err="1" smtClean="0"/>
              <a:t>chuyển</a:t>
            </a:r>
            <a:r>
              <a:rPr lang="en-US" dirty="0" smtClean="0"/>
              <a:t> </a:t>
            </a:r>
            <a:r>
              <a:rPr lang="en-US" dirty="0" err="1" smtClean="0"/>
              <a:t>từ</a:t>
            </a:r>
            <a:r>
              <a:rPr lang="en-US" dirty="0" smtClean="0"/>
              <a:t> Class Diagram </a:t>
            </a:r>
            <a:r>
              <a:rPr lang="en-US" dirty="0" smtClean="0">
                <a:sym typeface="Symbol" panose="05050102010706020507" pitchFamily="18" charset="2"/>
              </a:rPr>
              <a:t> EER</a:t>
            </a:r>
            <a:endParaRPr lang="en-US" dirty="0"/>
          </a:p>
        </p:txBody>
      </p:sp>
      <p:sp>
        <p:nvSpPr>
          <p:cNvPr id="4" name="Footer Placeholder 3"/>
          <p:cNvSpPr>
            <a:spLocks noGrp="1"/>
          </p:cNvSpPr>
          <p:nvPr>
            <p:ph type="ftr" sz="quarter" idx="10"/>
          </p:nvPr>
        </p:nvSpPr>
        <p:spPr/>
        <p:txBody>
          <a:bodyPr/>
          <a:lstStyle/>
          <a:p>
            <a:r>
              <a:rPr lang="vi-VN" smtClean="0"/>
              <a:t>Phần: Mô hình lớp UML và Mô hình quan hệ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22</a:t>
            </a:fld>
            <a:endParaRPr lang="en-US" dirty="0"/>
          </a:p>
        </p:txBody>
      </p:sp>
      <p:sp>
        <p:nvSpPr>
          <p:cNvPr id="3" name="Content Placeholder 2"/>
          <p:cNvSpPr>
            <a:spLocks noGrp="1"/>
          </p:cNvSpPr>
          <p:nvPr>
            <p:ph idx="1"/>
          </p:nvPr>
        </p:nvSpPr>
        <p:spPr/>
        <p:txBody>
          <a:bodyPr/>
          <a:lstStyle/>
          <a:p>
            <a:r>
              <a:rPr lang="vi-VN" dirty="0"/>
              <a:t>Bước 4: Quan hệ kết tập:</a:t>
            </a:r>
          </a:p>
          <a:p>
            <a:pPr marL="0" indent="0">
              <a:buNone/>
            </a:pPr>
            <a:r>
              <a:rPr lang="vi-VN" dirty="0" smtClean="0"/>
              <a:t>Quan </a:t>
            </a:r>
            <a:r>
              <a:rPr lang="vi-VN" dirty="0"/>
              <a:t>hệ kết tập được chuyển thành mối quan hệ “1-n” giữa 2 kiểu thực thể</a:t>
            </a:r>
          </a:p>
          <a:p>
            <a:pPr>
              <a:buFont typeface="Wingdings" pitchFamily="2" charset="2"/>
              <a:buChar char="q"/>
            </a:pPr>
            <a:r>
              <a:rPr lang="vi-VN" dirty="0"/>
              <a:t>Bước 5: Quan hệ tổng quát hoá:</a:t>
            </a:r>
          </a:p>
          <a:p>
            <a:pPr marL="0" indent="0">
              <a:buNone/>
            </a:pPr>
            <a:r>
              <a:rPr lang="vi-VN" dirty="0" smtClean="0"/>
              <a:t>Quan </a:t>
            </a:r>
            <a:r>
              <a:rPr lang="vi-VN" dirty="0"/>
              <a:t>hệ tổng quát hoá giữa 2 lớp thì được chuyển thành quan hệ chuyên biệt hoá giữa 2 kiểu thực thể biểu diễn lớp cha và lớp con.</a:t>
            </a:r>
          </a:p>
          <a:p>
            <a:endParaRPr lang="en-US" dirty="0"/>
          </a:p>
        </p:txBody>
      </p:sp>
    </p:spTree>
    <p:extLst>
      <p:ext uri="{BB962C8B-B14F-4D97-AF65-F5344CB8AC3E}">
        <p14:creationId xmlns:p14="http://schemas.microsoft.com/office/powerpoint/2010/main" val="3748256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fld id="{099B615F-C769-49CC-AD0C-AE566D56EEA8}" type="slidenum">
              <a:rPr lang="en-US" smtClean="0"/>
              <a:pPr/>
              <a:t>23</a:t>
            </a:fld>
            <a:endParaRPr lang="en-US" dirty="0"/>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8919" y="111211"/>
            <a:ext cx="8513805" cy="5696465"/>
          </a:xfrm>
        </p:spPr>
      </p:pic>
      <p:sp>
        <p:nvSpPr>
          <p:cNvPr id="7" name="Title 6"/>
          <p:cNvSpPr>
            <a:spLocks noGrp="1"/>
          </p:cNvSpPr>
          <p:nvPr>
            <p:ph type="title"/>
          </p:nvPr>
        </p:nvSpPr>
        <p:spPr/>
        <p:txBody>
          <a:bodyPr/>
          <a:lstStyle/>
          <a:p>
            <a:endParaRPr lang="en-US"/>
          </a:p>
        </p:txBody>
      </p:sp>
    </p:spTree>
    <p:extLst>
      <p:ext uri="{BB962C8B-B14F-4D97-AF65-F5344CB8AC3E}">
        <p14:creationId xmlns:p14="http://schemas.microsoft.com/office/powerpoint/2010/main" val="3748256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fld id="{099B615F-C769-49CC-AD0C-AE566D56EEA8}" type="slidenum">
              <a:rPr lang="en-US" smtClean="0"/>
              <a:pPr/>
              <a:t>24</a:t>
            </a:fld>
            <a:endParaRPr lang="en-US" dirty="0"/>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0638" y="148282"/>
            <a:ext cx="8847438" cy="5671750"/>
          </a:xfrm>
        </p:spPr>
      </p:pic>
    </p:spTree>
    <p:extLst>
      <p:ext uri="{BB962C8B-B14F-4D97-AF65-F5344CB8AC3E}">
        <p14:creationId xmlns:p14="http://schemas.microsoft.com/office/powerpoint/2010/main" val="22604418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fld id="{099B615F-C769-49CC-AD0C-AE566D56EEA8}" type="slidenum">
              <a:rPr lang="en-US" smtClean="0"/>
              <a:pPr/>
              <a:t>25</a:t>
            </a:fld>
            <a:endParaRPr lang="en-US" dirty="0"/>
          </a:p>
        </p:txBody>
      </p:sp>
      <p:pic>
        <p:nvPicPr>
          <p:cNvPr id="3" name="Content Placeholder 2"/>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6563" y="86497"/>
            <a:ext cx="8760940" cy="5634681"/>
          </a:xfrm>
        </p:spPr>
      </p:pic>
    </p:spTree>
    <p:extLst>
      <p:ext uri="{BB962C8B-B14F-4D97-AF65-F5344CB8AC3E}">
        <p14:creationId xmlns:p14="http://schemas.microsoft.com/office/powerpoint/2010/main" val="2583215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pic>
        <p:nvPicPr>
          <p:cNvPr id="4" name="Picture 3" descr="question%20mar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8189" y="726440"/>
            <a:ext cx="3417296" cy="4754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10"/>
          </p:nvPr>
        </p:nvSpPr>
        <p:spPr/>
        <p:txBody>
          <a:bodyPr/>
          <a:lstStyle/>
          <a:p>
            <a:r>
              <a:rPr lang="vi-VN" smtClean="0"/>
              <a:t>Phần: Mô hình lớp UML và Mô hình quan hệ (review)</a:t>
            </a:r>
            <a:endParaRPr lang="en-US" dirty="0"/>
          </a:p>
        </p:txBody>
      </p:sp>
      <p:sp>
        <p:nvSpPr>
          <p:cNvPr id="6" name="Slide Number Placeholder 5"/>
          <p:cNvSpPr>
            <a:spLocks noGrp="1"/>
          </p:cNvSpPr>
          <p:nvPr>
            <p:ph type="sldNum" sz="quarter" idx="11"/>
          </p:nvPr>
        </p:nvSpPr>
        <p:spPr/>
        <p:txBody>
          <a:bodyPr/>
          <a:lstStyle/>
          <a:p>
            <a:fld id="{099B615F-C769-49CC-AD0C-AE566D56EEA8}" type="slidenum">
              <a:rPr lang="en-US" smtClean="0"/>
              <a:pPr/>
              <a:t>26</a:t>
            </a:fld>
            <a:endParaRPr lang="en-US" dirty="0"/>
          </a:p>
        </p:txBody>
      </p:sp>
    </p:spTree>
    <p:extLst>
      <p:ext uri="{BB962C8B-B14F-4D97-AF65-F5344CB8AC3E}">
        <p14:creationId xmlns:p14="http://schemas.microsoft.com/office/powerpoint/2010/main" val="154665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ThemeXXX">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anose="020B060403050404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anose="020B0604030504040204" pitchFamily="34" charset="0"/>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xmlns="" name="ThemeXXX" id="{0525AA34-2DEF-4157-AA79-60D7E54EB469}" vid="{23AAF536-8794-44B7-94AE-10885170831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ThemeXXX</Template>
  <TotalTime>3516</TotalTime>
  <Words>1509</Words>
  <Application>Microsoft Office PowerPoint</Application>
  <PresentationFormat>Custom</PresentationFormat>
  <Paragraphs>156</Paragraphs>
  <Slides>26</Slides>
  <Notes>2</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ThemeXXX</vt:lpstr>
      <vt:lpstr>Môn: PHÁT TRIỂN ỨNG DỤNG</vt:lpstr>
      <vt:lpstr>Nội dung</vt:lpstr>
      <vt:lpstr>Các thành phần UML tương ứng với EER</vt:lpstr>
      <vt:lpstr>Các thành phần của Mô hình lớp và EER</vt:lpstr>
      <vt:lpstr>Các ký hiệu tương ứng với EER</vt:lpstr>
      <vt:lpstr>Chuyển từ mô hình lớp sang EER</vt:lpstr>
      <vt:lpstr>Chuyển từ mô hình lớp sang EER</vt:lpstr>
      <vt:lpstr>Chuyển từ mô hình lớp sang EER</vt:lpstr>
      <vt:lpstr>Chuyển từ mô hình lớp sang EER</vt:lpstr>
      <vt:lpstr>Chuyển từ mô hình lớp sang EER</vt:lpstr>
      <vt:lpstr>Chuyển từ mô hình lớp sang EER</vt:lpstr>
      <vt:lpstr>Chuyển từ mô hình lớp sang EER</vt:lpstr>
      <vt:lpstr>Bài tập chuyển từ Class Diagram  EER</vt:lpstr>
      <vt:lpstr>Bài tập chuyển từ Class Diagram  EER</vt:lpstr>
      <vt:lpstr>Bài tập chuyển từ Class Diagram  EER</vt:lpstr>
      <vt:lpstr>Bài tập chuyển từ Class Diagram  EER</vt:lpstr>
      <vt:lpstr>Bài tập chuyển từ Class Diagram  EER</vt:lpstr>
      <vt:lpstr>Bài tập chuyển từ Class Diagram  EER</vt:lpstr>
      <vt:lpstr>PowerPoint Presentation</vt:lpstr>
      <vt:lpstr>Bài tập chuyển từ Class Diagram  EER</vt:lpstr>
      <vt:lpstr>PowerPoint Presentation</vt:lpstr>
      <vt:lpstr>Bài tập chuyển từ Class Diagram  EER</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Môn: PHÁT TRIỂN ỨNG DỤNG</dc:title>
  <dc:creator>Thanh Van</dc:creator>
  <cp:lastModifiedBy>Windows User</cp:lastModifiedBy>
  <cp:revision>142</cp:revision>
  <dcterms:created xsi:type="dcterms:W3CDTF">2016-07-14T08:37:41Z</dcterms:created>
  <dcterms:modified xsi:type="dcterms:W3CDTF">2023-10-02T03:00:26Z</dcterms:modified>
</cp:coreProperties>
</file>